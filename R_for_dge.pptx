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448" r:id="rId2"/>
    <p:sldId id="449" r:id="rId3"/>
    <p:sldId id="457" r:id="rId4"/>
    <p:sldId id="459" r:id="rId5"/>
    <p:sldId id="346" r:id="rId6"/>
    <p:sldId id="364" r:id="rId7"/>
    <p:sldId id="374" r:id="rId8"/>
    <p:sldId id="367" r:id="rId9"/>
    <p:sldId id="276" r:id="rId10"/>
    <p:sldId id="445" r:id="rId11"/>
    <p:sldId id="452" r:id="rId12"/>
    <p:sldId id="447" r:id="rId13"/>
    <p:sldId id="453" r:id="rId14"/>
    <p:sldId id="450" r:id="rId15"/>
    <p:sldId id="451" r:id="rId16"/>
    <p:sldId id="1783157932" r:id="rId17"/>
    <p:sldId id="1012533904" r:id="rId18"/>
    <p:sldId id="939972575" r:id="rId19"/>
    <p:sldId id="582651149" r:id="rId20"/>
    <p:sldId id="454" r:id="rId21"/>
    <p:sldId id="455" r:id="rId22"/>
    <p:sldId id="1783157933" r:id="rId23"/>
    <p:sldId id="456" r:id="rId2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94"/>
    <p:restoredTop sz="96893"/>
  </p:normalViewPr>
  <p:slideViewPr>
    <p:cSldViewPr>
      <p:cViewPr varScale="1">
        <p:scale>
          <a:sx n="152" d="100"/>
          <a:sy n="152" d="100"/>
        </p:scale>
        <p:origin x="208" y="200"/>
      </p:cViewPr>
      <p:guideLst>
        <p:guide orient="horz" pos="2160"/>
        <p:guide pos="3840"/>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87A63B-B005-4A96-A632-5F24A26D1581}" type="doc">
      <dgm:prSet loTypeId="urn:microsoft.com/office/officeart/2016/7/layout/VerticalSolidActionList" loCatId="List" qsTypeId="urn:microsoft.com/office/officeart/2005/8/quickstyle/simple1" qsCatId="simple" csTypeId="urn:microsoft.com/office/officeart/2005/8/colors/colorful2" csCatId="colorful"/>
      <dgm:spPr/>
      <dgm:t>
        <a:bodyPr/>
        <a:lstStyle/>
        <a:p>
          <a:endParaRPr lang="en-US"/>
        </a:p>
      </dgm:t>
    </dgm:pt>
    <dgm:pt modelId="{9452E95D-ABF3-4F34-A344-8B949A717E77}">
      <dgm:prSet/>
      <dgm:spPr/>
      <dgm:t>
        <a:bodyPr/>
        <a:lstStyle/>
        <a:p>
          <a:r>
            <a:rPr lang="en-US"/>
            <a:t>Describe</a:t>
          </a:r>
        </a:p>
      </dgm:t>
    </dgm:pt>
    <dgm:pt modelId="{25FD3119-9A9F-420D-8E29-C66BFB3FBE1B}" type="parTrans" cxnId="{DDB987AA-B36A-4AB2-854D-818A3683D9BC}">
      <dgm:prSet/>
      <dgm:spPr/>
      <dgm:t>
        <a:bodyPr/>
        <a:lstStyle/>
        <a:p>
          <a:endParaRPr lang="en-US"/>
        </a:p>
      </dgm:t>
    </dgm:pt>
    <dgm:pt modelId="{9B921712-EA89-4963-B827-0FCE4185BE53}" type="sibTrans" cxnId="{DDB987AA-B36A-4AB2-854D-818A3683D9BC}">
      <dgm:prSet/>
      <dgm:spPr/>
      <dgm:t>
        <a:bodyPr/>
        <a:lstStyle/>
        <a:p>
          <a:endParaRPr lang="en-US"/>
        </a:p>
      </dgm:t>
    </dgm:pt>
    <dgm:pt modelId="{E253B369-A1E2-4AD9-AF08-4AD39CA543C2}">
      <dgm:prSet/>
      <dgm:spPr/>
      <dgm:t>
        <a:bodyPr/>
        <a:lstStyle/>
        <a:p>
          <a:r>
            <a:rPr lang="en-US"/>
            <a:t>Describe data structures in R used for differential gene expression (DGE) analysis of bulk and of single-cell RNAseq</a:t>
          </a:r>
        </a:p>
      </dgm:t>
    </dgm:pt>
    <dgm:pt modelId="{6329E5E1-289E-4987-B098-E06BD8563E92}" type="parTrans" cxnId="{A7C3EED8-3FF2-4389-9D35-2FD175A8FBB3}">
      <dgm:prSet/>
      <dgm:spPr/>
      <dgm:t>
        <a:bodyPr/>
        <a:lstStyle/>
        <a:p>
          <a:endParaRPr lang="en-US"/>
        </a:p>
      </dgm:t>
    </dgm:pt>
    <dgm:pt modelId="{D057BC51-CB79-4D11-9327-9E248F90402F}" type="sibTrans" cxnId="{A7C3EED8-3FF2-4389-9D35-2FD175A8FBB3}">
      <dgm:prSet/>
      <dgm:spPr/>
      <dgm:t>
        <a:bodyPr/>
        <a:lstStyle/>
        <a:p>
          <a:endParaRPr lang="en-US"/>
        </a:p>
      </dgm:t>
    </dgm:pt>
    <dgm:pt modelId="{6C65A441-5190-4896-96AC-48563209D9A3}">
      <dgm:prSet/>
      <dgm:spPr/>
      <dgm:t>
        <a:bodyPr/>
        <a:lstStyle/>
        <a:p>
          <a:r>
            <a:rPr lang="en-US"/>
            <a:t>Apply</a:t>
          </a:r>
        </a:p>
      </dgm:t>
    </dgm:pt>
    <dgm:pt modelId="{E084CF47-D8D7-4FB7-8DBF-3EFABDC7207B}" type="parTrans" cxnId="{A36AF9F8-0C40-4AA0-9DEA-938AC3165669}">
      <dgm:prSet/>
      <dgm:spPr/>
      <dgm:t>
        <a:bodyPr/>
        <a:lstStyle/>
        <a:p>
          <a:endParaRPr lang="en-US"/>
        </a:p>
      </dgm:t>
    </dgm:pt>
    <dgm:pt modelId="{CA0270B3-4A59-42E5-91C9-C33A88CBD328}" type="sibTrans" cxnId="{A36AF9F8-0C40-4AA0-9DEA-938AC3165669}">
      <dgm:prSet/>
      <dgm:spPr/>
      <dgm:t>
        <a:bodyPr/>
        <a:lstStyle/>
        <a:p>
          <a:endParaRPr lang="en-US"/>
        </a:p>
      </dgm:t>
    </dgm:pt>
    <dgm:pt modelId="{9C713F8C-F023-4894-8686-A5419EDEE803}">
      <dgm:prSet/>
      <dgm:spPr/>
      <dgm:t>
        <a:bodyPr/>
        <a:lstStyle/>
        <a:p>
          <a:r>
            <a:rPr lang="en-US"/>
            <a:t>Apply a computational pipeline for DGE analysis</a:t>
          </a:r>
        </a:p>
      </dgm:t>
    </dgm:pt>
    <dgm:pt modelId="{024B8FC0-E12A-4AB0-A3E7-92F87B148CC6}" type="parTrans" cxnId="{FFE7C10C-A52D-4540-A2F6-F2C54A0A1949}">
      <dgm:prSet/>
      <dgm:spPr/>
      <dgm:t>
        <a:bodyPr/>
        <a:lstStyle/>
        <a:p>
          <a:endParaRPr lang="en-US"/>
        </a:p>
      </dgm:t>
    </dgm:pt>
    <dgm:pt modelId="{8D91F2BA-1674-4067-96DC-32FC38F89A4E}" type="sibTrans" cxnId="{FFE7C10C-A52D-4540-A2F6-F2C54A0A1949}">
      <dgm:prSet/>
      <dgm:spPr/>
      <dgm:t>
        <a:bodyPr/>
        <a:lstStyle/>
        <a:p>
          <a:endParaRPr lang="en-US"/>
        </a:p>
      </dgm:t>
    </dgm:pt>
    <dgm:pt modelId="{54ABB94C-0284-4480-A110-FB6F41E985DB}">
      <dgm:prSet/>
      <dgm:spPr/>
      <dgm:t>
        <a:bodyPr/>
        <a:lstStyle/>
        <a:p>
          <a:r>
            <a:rPr lang="en-US"/>
            <a:t>Apply</a:t>
          </a:r>
        </a:p>
      </dgm:t>
    </dgm:pt>
    <dgm:pt modelId="{5167339D-E3B0-4A33-A6EE-4385C2A49E13}" type="parTrans" cxnId="{7D3511E5-142D-4AEB-B306-E933ED3B0223}">
      <dgm:prSet/>
      <dgm:spPr/>
      <dgm:t>
        <a:bodyPr/>
        <a:lstStyle/>
        <a:p>
          <a:endParaRPr lang="en-US"/>
        </a:p>
      </dgm:t>
    </dgm:pt>
    <dgm:pt modelId="{9C89C01A-8878-4AA8-9D29-FD7DC29AA839}" type="sibTrans" cxnId="{7D3511E5-142D-4AEB-B306-E933ED3B0223}">
      <dgm:prSet/>
      <dgm:spPr/>
      <dgm:t>
        <a:bodyPr/>
        <a:lstStyle/>
        <a:p>
          <a:endParaRPr lang="en-US"/>
        </a:p>
      </dgm:t>
    </dgm:pt>
    <dgm:pt modelId="{28C99727-682C-4E7B-930B-EBC2198F4BD9}">
      <dgm:prSet/>
      <dgm:spPr/>
      <dgm:t>
        <a:bodyPr/>
        <a:lstStyle/>
        <a:p>
          <a:r>
            <a:rPr lang="en-US"/>
            <a:t>Apply dimension reduction, cluster analysis, 2-D visualization methods, and marker selection to single-cell RNAseq data</a:t>
          </a:r>
        </a:p>
      </dgm:t>
    </dgm:pt>
    <dgm:pt modelId="{505D8BEA-3ADF-4A90-9D56-D2A82F347266}" type="parTrans" cxnId="{841CABBC-170D-4D5A-9C7A-DF7D65996560}">
      <dgm:prSet/>
      <dgm:spPr/>
      <dgm:t>
        <a:bodyPr/>
        <a:lstStyle/>
        <a:p>
          <a:endParaRPr lang="en-US"/>
        </a:p>
      </dgm:t>
    </dgm:pt>
    <dgm:pt modelId="{CF31A357-403F-4532-949E-840D86C7A816}" type="sibTrans" cxnId="{841CABBC-170D-4D5A-9C7A-DF7D65996560}">
      <dgm:prSet/>
      <dgm:spPr/>
      <dgm:t>
        <a:bodyPr/>
        <a:lstStyle/>
        <a:p>
          <a:endParaRPr lang="en-US"/>
        </a:p>
      </dgm:t>
    </dgm:pt>
    <dgm:pt modelId="{9C9A40E1-BFC0-7B4F-93F9-98F4D562531D}" type="pres">
      <dgm:prSet presAssocID="{3787A63B-B005-4A96-A632-5F24A26D1581}" presName="Name0" presStyleCnt="0">
        <dgm:presLayoutVars>
          <dgm:dir/>
          <dgm:animLvl val="lvl"/>
          <dgm:resizeHandles val="exact"/>
        </dgm:presLayoutVars>
      </dgm:prSet>
      <dgm:spPr/>
    </dgm:pt>
    <dgm:pt modelId="{356F2D3D-20DB-044F-A7DD-75E34F37017D}" type="pres">
      <dgm:prSet presAssocID="{9452E95D-ABF3-4F34-A344-8B949A717E77}" presName="linNode" presStyleCnt="0"/>
      <dgm:spPr/>
    </dgm:pt>
    <dgm:pt modelId="{AF4A6558-684A-BB4E-BA76-7164038FDE54}" type="pres">
      <dgm:prSet presAssocID="{9452E95D-ABF3-4F34-A344-8B949A717E77}" presName="parentText" presStyleLbl="alignNode1" presStyleIdx="0" presStyleCnt="3">
        <dgm:presLayoutVars>
          <dgm:chMax val="1"/>
          <dgm:bulletEnabled/>
        </dgm:presLayoutVars>
      </dgm:prSet>
      <dgm:spPr/>
    </dgm:pt>
    <dgm:pt modelId="{44B72FD9-0D39-B147-8501-935A4C1EBD65}" type="pres">
      <dgm:prSet presAssocID="{9452E95D-ABF3-4F34-A344-8B949A717E77}" presName="descendantText" presStyleLbl="alignAccFollowNode1" presStyleIdx="0" presStyleCnt="3">
        <dgm:presLayoutVars>
          <dgm:bulletEnabled/>
        </dgm:presLayoutVars>
      </dgm:prSet>
      <dgm:spPr/>
    </dgm:pt>
    <dgm:pt modelId="{74A10706-BAFD-5A43-A955-213F065BEFE2}" type="pres">
      <dgm:prSet presAssocID="{9B921712-EA89-4963-B827-0FCE4185BE53}" presName="sp" presStyleCnt="0"/>
      <dgm:spPr/>
    </dgm:pt>
    <dgm:pt modelId="{CCFC9A77-6986-9142-914B-41C1566637E4}" type="pres">
      <dgm:prSet presAssocID="{6C65A441-5190-4896-96AC-48563209D9A3}" presName="linNode" presStyleCnt="0"/>
      <dgm:spPr/>
    </dgm:pt>
    <dgm:pt modelId="{B4432649-EF13-7A4F-9375-A1A2BD2C4704}" type="pres">
      <dgm:prSet presAssocID="{6C65A441-5190-4896-96AC-48563209D9A3}" presName="parentText" presStyleLbl="alignNode1" presStyleIdx="1" presStyleCnt="3">
        <dgm:presLayoutVars>
          <dgm:chMax val="1"/>
          <dgm:bulletEnabled/>
        </dgm:presLayoutVars>
      </dgm:prSet>
      <dgm:spPr/>
    </dgm:pt>
    <dgm:pt modelId="{00CA63AC-D4E2-634C-B467-2C45286B622C}" type="pres">
      <dgm:prSet presAssocID="{6C65A441-5190-4896-96AC-48563209D9A3}" presName="descendantText" presStyleLbl="alignAccFollowNode1" presStyleIdx="1" presStyleCnt="3">
        <dgm:presLayoutVars>
          <dgm:bulletEnabled/>
        </dgm:presLayoutVars>
      </dgm:prSet>
      <dgm:spPr/>
    </dgm:pt>
    <dgm:pt modelId="{6C882C57-1C74-F84D-9CA6-562102A319F8}" type="pres">
      <dgm:prSet presAssocID="{CA0270B3-4A59-42E5-91C9-C33A88CBD328}" presName="sp" presStyleCnt="0"/>
      <dgm:spPr/>
    </dgm:pt>
    <dgm:pt modelId="{19636B4E-3AF0-584B-B339-B5FDD546D21C}" type="pres">
      <dgm:prSet presAssocID="{54ABB94C-0284-4480-A110-FB6F41E985DB}" presName="linNode" presStyleCnt="0"/>
      <dgm:spPr/>
    </dgm:pt>
    <dgm:pt modelId="{C299B2CF-319A-FF41-9722-D77426BFB224}" type="pres">
      <dgm:prSet presAssocID="{54ABB94C-0284-4480-A110-FB6F41E985DB}" presName="parentText" presStyleLbl="alignNode1" presStyleIdx="2" presStyleCnt="3">
        <dgm:presLayoutVars>
          <dgm:chMax val="1"/>
          <dgm:bulletEnabled/>
        </dgm:presLayoutVars>
      </dgm:prSet>
      <dgm:spPr/>
    </dgm:pt>
    <dgm:pt modelId="{C0120EBA-E012-B74E-9511-D307CC5FA117}" type="pres">
      <dgm:prSet presAssocID="{54ABB94C-0284-4480-A110-FB6F41E985DB}" presName="descendantText" presStyleLbl="alignAccFollowNode1" presStyleIdx="2" presStyleCnt="3">
        <dgm:presLayoutVars>
          <dgm:bulletEnabled/>
        </dgm:presLayoutVars>
      </dgm:prSet>
      <dgm:spPr/>
    </dgm:pt>
  </dgm:ptLst>
  <dgm:cxnLst>
    <dgm:cxn modelId="{FFE7C10C-A52D-4540-A2F6-F2C54A0A1949}" srcId="{6C65A441-5190-4896-96AC-48563209D9A3}" destId="{9C713F8C-F023-4894-8686-A5419EDEE803}" srcOrd="0" destOrd="0" parTransId="{024B8FC0-E12A-4AB0-A3E7-92F87B148CC6}" sibTransId="{8D91F2BA-1674-4067-96DC-32FC38F89A4E}"/>
    <dgm:cxn modelId="{74FB870D-E7B0-684E-8FD4-A3C265B3BFEE}" type="presOf" srcId="{9452E95D-ABF3-4F34-A344-8B949A717E77}" destId="{AF4A6558-684A-BB4E-BA76-7164038FDE54}" srcOrd="0" destOrd="0" presId="urn:microsoft.com/office/officeart/2016/7/layout/VerticalSolidActionList"/>
    <dgm:cxn modelId="{DA166C10-AF19-C046-A1CB-2F4DF7D637F2}" type="presOf" srcId="{9C713F8C-F023-4894-8686-A5419EDEE803}" destId="{00CA63AC-D4E2-634C-B467-2C45286B622C}" srcOrd="0" destOrd="0" presId="urn:microsoft.com/office/officeart/2016/7/layout/VerticalSolidActionList"/>
    <dgm:cxn modelId="{565CA14A-B9F1-7141-99EE-F9F5D099FF9E}" type="presOf" srcId="{54ABB94C-0284-4480-A110-FB6F41E985DB}" destId="{C299B2CF-319A-FF41-9722-D77426BFB224}" srcOrd="0" destOrd="0" presId="urn:microsoft.com/office/officeart/2016/7/layout/VerticalSolidActionList"/>
    <dgm:cxn modelId="{B646976F-029B-2F4B-B031-DE71883B92A2}" type="presOf" srcId="{3787A63B-B005-4A96-A632-5F24A26D1581}" destId="{9C9A40E1-BFC0-7B4F-93F9-98F4D562531D}" srcOrd="0" destOrd="0" presId="urn:microsoft.com/office/officeart/2016/7/layout/VerticalSolidActionList"/>
    <dgm:cxn modelId="{DDB987AA-B36A-4AB2-854D-818A3683D9BC}" srcId="{3787A63B-B005-4A96-A632-5F24A26D1581}" destId="{9452E95D-ABF3-4F34-A344-8B949A717E77}" srcOrd="0" destOrd="0" parTransId="{25FD3119-9A9F-420D-8E29-C66BFB3FBE1B}" sibTransId="{9B921712-EA89-4963-B827-0FCE4185BE53}"/>
    <dgm:cxn modelId="{841CABBC-170D-4D5A-9C7A-DF7D65996560}" srcId="{54ABB94C-0284-4480-A110-FB6F41E985DB}" destId="{28C99727-682C-4E7B-930B-EBC2198F4BD9}" srcOrd="0" destOrd="0" parTransId="{505D8BEA-3ADF-4A90-9D56-D2A82F347266}" sibTransId="{CF31A357-403F-4532-949E-840D86C7A816}"/>
    <dgm:cxn modelId="{A7C3EED8-3FF2-4389-9D35-2FD175A8FBB3}" srcId="{9452E95D-ABF3-4F34-A344-8B949A717E77}" destId="{E253B369-A1E2-4AD9-AF08-4AD39CA543C2}" srcOrd="0" destOrd="0" parTransId="{6329E5E1-289E-4987-B098-E06BD8563E92}" sibTransId="{D057BC51-CB79-4D11-9327-9E248F90402F}"/>
    <dgm:cxn modelId="{7D3511E5-142D-4AEB-B306-E933ED3B0223}" srcId="{3787A63B-B005-4A96-A632-5F24A26D1581}" destId="{54ABB94C-0284-4480-A110-FB6F41E985DB}" srcOrd="2" destOrd="0" parTransId="{5167339D-E3B0-4A33-A6EE-4385C2A49E13}" sibTransId="{9C89C01A-8878-4AA8-9D29-FD7DC29AA839}"/>
    <dgm:cxn modelId="{14485CF0-1290-CB43-978D-028EED2C5707}" type="presOf" srcId="{28C99727-682C-4E7B-930B-EBC2198F4BD9}" destId="{C0120EBA-E012-B74E-9511-D307CC5FA117}" srcOrd="0" destOrd="0" presId="urn:microsoft.com/office/officeart/2016/7/layout/VerticalSolidActionList"/>
    <dgm:cxn modelId="{C98FD0F4-F244-2048-B850-00CA1E462349}" type="presOf" srcId="{6C65A441-5190-4896-96AC-48563209D9A3}" destId="{B4432649-EF13-7A4F-9375-A1A2BD2C4704}" srcOrd="0" destOrd="0" presId="urn:microsoft.com/office/officeart/2016/7/layout/VerticalSolidActionList"/>
    <dgm:cxn modelId="{A36AF9F8-0C40-4AA0-9DEA-938AC3165669}" srcId="{3787A63B-B005-4A96-A632-5F24A26D1581}" destId="{6C65A441-5190-4896-96AC-48563209D9A3}" srcOrd="1" destOrd="0" parTransId="{E084CF47-D8D7-4FB7-8DBF-3EFABDC7207B}" sibTransId="{CA0270B3-4A59-42E5-91C9-C33A88CBD328}"/>
    <dgm:cxn modelId="{48609CFB-1489-0646-B66C-B28CC98084F4}" type="presOf" srcId="{E253B369-A1E2-4AD9-AF08-4AD39CA543C2}" destId="{44B72FD9-0D39-B147-8501-935A4C1EBD65}" srcOrd="0" destOrd="0" presId="urn:microsoft.com/office/officeart/2016/7/layout/VerticalSolidActionList"/>
    <dgm:cxn modelId="{A2343451-F628-7C47-B6BE-6B93CE8FDE59}" type="presParOf" srcId="{9C9A40E1-BFC0-7B4F-93F9-98F4D562531D}" destId="{356F2D3D-20DB-044F-A7DD-75E34F37017D}" srcOrd="0" destOrd="0" presId="urn:microsoft.com/office/officeart/2016/7/layout/VerticalSolidActionList"/>
    <dgm:cxn modelId="{25E37751-968C-0746-B443-C94A52963299}" type="presParOf" srcId="{356F2D3D-20DB-044F-A7DD-75E34F37017D}" destId="{AF4A6558-684A-BB4E-BA76-7164038FDE54}" srcOrd="0" destOrd="0" presId="urn:microsoft.com/office/officeart/2016/7/layout/VerticalSolidActionList"/>
    <dgm:cxn modelId="{152768F5-35E6-824C-984E-C8653F648C34}" type="presParOf" srcId="{356F2D3D-20DB-044F-A7DD-75E34F37017D}" destId="{44B72FD9-0D39-B147-8501-935A4C1EBD65}" srcOrd="1" destOrd="0" presId="urn:microsoft.com/office/officeart/2016/7/layout/VerticalSolidActionList"/>
    <dgm:cxn modelId="{40645988-C5D2-4941-BABF-848453F592D0}" type="presParOf" srcId="{9C9A40E1-BFC0-7B4F-93F9-98F4D562531D}" destId="{74A10706-BAFD-5A43-A955-213F065BEFE2}" srcOrd="1" destOrd="0" presId="urn:microsoft.com/office/officeart/2016/7/layout/VerticalSolidActionList"/>
    <dgm:cxn modelId="{2F694604-4413-8B49-8466-87674B7620B7}" type="presParOf" srcId="{9C9A40E1-BFC0-7B4F-93F9-98F4D562531D}" destId="{CCFC9A77-6986-9142-914B-41C1566637E4}" srcOrd="2" destOrd="0" presId="urn:microsoft.com/office/officeart/2016/7/layout/VerticalSolidActionList"/>
    <dgm:cxn modelId="{A66A1E86-718A-E745-B1F1-CCEA9B7C8DAB}" type="presParOf" srcId="{CCFC9A77-6986-9142-914B-41C1566637E4}" destId="{B4432649-EF13-7A4F-9375-A1A2BD2C4704}" srcOrd="0" destOrd="0" presId="urn:microsoft.com/office/officeart/2016/7/layout/VerticalSolidActionList"/>
    <dgm:cxn modelId="{5899A84C-76B0-2D46-AB72-86D8726A49A9}" type="presParOf" srcId="{CCFC9A77-6986-9142-914B-41C1566637E4}" destId="{00CA63AC-D4E2-634C-B467-2C45286B622C}" srcOrd="1" destOrd="0" presId="urn:microsoft.com/office/officeart/2016/7/layout/VerticalSolidActionList"/>
    <dgm:cxn modelId="{9116996F-E3A9-CB40-87B2-C95E412AC6ED}" type="presParOf" srcId="{9C9A40E1-BFC0-7B4F-93F9-98F4D562531D}" destId="{6C882C57-1C74-F84D-9CA6-562102A319F8}" srcOrd="3" destOrd="0" presId="urn:microsoft.com/office/officeart/2016/7/layout/VerticalSolidActionList"/>
    <dgm:cxn modelId="{7DEE6F66-338A-FC42-A0AA-A870ABFB6004}" type="presParOf" srcId="{9C9A40E1-BFC0-7B4F-93F9-98F4D562531D}" destId="{19636B4E-3AF0-584B-B339-B5FDD546D21C}" srcOrd="4" destOrd="0" presId="urn:microsoft.com/office/officeart/2016/7/layout/VerticalSolidActionList"/>
    <dgm:cxn modelId="{BF98676E-8DE8-CD42-8BE0-2E1DB6910E65}" type="presParOf" srcId="{19636B4E-3AF0-584B-B339-B5FDD546D21C}" destId="{C299B2CF-319A-FF41-9722-D77426BFB224}" srcOrd="0" destOrd="0" presId="urn:microsoft.com/office/officeart/2016/7/layout/VerticalSolidActionList"/>
    <dgm:cxn modelId="{29AA999E-B62F-A34A-BEB2-B1E95AB887C2}" type="presParOf" srcId="{19636B4E-3AF0-584B-B339-B5FDD546D21C}" destId="{C0120EBA-E012-B74E-9511-D307CC5FA117}"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B72FD9-0D39-B147-8501-935A4C1EBD65}">
      <dsp:nvSpPr>
        <dsp:cNvPr id="0" name=""/>
        <dsp:cNvSpPr/>
      </dsp:nvSpPr>
      <dsp:spPr>
        <a:xfrm>
          <a:off x="2103120" y="1234"/>
          <a:ext cx="8412480" cy="1264874"/>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225" tIns="321278" rIns="163225" bIns="321278" numCol="1" spcCol="1270" anchor="ctr" anchorCtr="0">
          <a:noAutofit/>
        </a:bodyPr>
        <a:lstStyle/>
        <a:p>
          <a:pPr marL="0" lvl="0" indent="0" algn="l" defTabSz="977900">
            <a:lnSpc>
              <a:spcPct val="90000"/>
            </a:lnSpc>
            <a:spcBef>
              <a:spcPct val="0"/>
            </a:spcBef>
            <a:spcAft>
              <a:spcPct val="35000"/>
            </a:spcAft>
            <a:buNone/>
          </a:pPr>
          <a:r>
            <a:rPr lang="en-US" sz="2200" kern="1200"/>
            <a:t>Describe data structures in R used for differential gene expression (DGE) analysis of bulk and of single-cell RNAseq</a:t>
          </a:r>
        </a:p>
      </dsp:txBody>
      <dsp:txXfrm>
        <a:off x="2103120" y="1234"/>
        <a:ext cx="8412480" cy="1264874"/>
      </dsp:txXfrm>
    </dsp:sp>
    <dsp:sp modelId="{AF4A6558-684A-BB4E-BA76-7164038FDE54}">
      <dsp:nvSpPr>
        <dsp:cNvPr id="0" name=""/>
        <dsp:cNvSpPr/>
      </dsp:nvSpPr>
      <dsp:spPr>
        <a:xfrm>
          <a:off x="0" y="1234"/>
          <a:ext cx="2103120" cy="1264874"/>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290" tIns="124941" rIns="111290" bIns="124941" numCol="1" spcCol="1270" anchor="ctr" anchorCtr="0">
          <a:noAutofit/>
        </a:bodyPr>
        <a:lstStyle/>
        <a:p>
          <a:pPr marL="0" lvl="0" indent="0" algn="ctr" defTabSz="1244600">
            <a:lnSpc>
              <a:spcPct val="90000"/>
            </a:lnSpc>
            <a:spcBef>
              <a:spcPct val="0"/>
            </a:spcBef>
            <a:spcAft>
              <a:spcPct val="35000"/>
            </a:spcAft>
            <a:buNone/>
          </a:pPr>
          <a:r>
            <a:rPr lang="en-US" sz="2800" kern="1200"/>
            <a:t>Describe</a:t>
          </a:r>
        </a:p>
      </dsp:txBody>
      <dsp:txXfrm>
        <a:off x="0" y="1234"/>
        <a:ext cx="2103120" cy="1264874"/>
      </dsp:txXfrm>
    </dsp:sp>
    <dsp:sp modelId="{00CA63AC-D4E2-634C-B467-2C45286B622C}">
      <dsp:nvSpPr>
        <dsp:cNvPr id="0" name=""/>
        <dsp:cNvSpPr/>
      </dsp:nvSpPr>
      <dsp:spPr>
        <a:xfrm>
          <a:off x="2103120" y="1342000"/>
          <a:ext cx="8412480" cy="1264874"/>
        </a:xfrm>
        <a:prstGeom prst="rect">
          <a:avLst/>
        </a:prstGeom>
        <a:solidFill>
          <a:schemeClr val="accent2">
            <a:tint val="40000"/>
            <a:alpha val="90000"/>
            <a:hueOff val="2512910"/>
            <a:satOff val="-2189"/>
            <a:lumOff val="-3"/>
            <a:alphaOff val="0"/>
          </a:schemeClr>
        </a:solidFill>
        <a:ln w="25400" cap="flat" cmpd="sng" algn="ctr">
          <a:solidFill>
            <a:schemeClr val="accent2">
              <a:tint val="40000"/>
              <a:alpha val="90000"/>
              <a:hueOff val="2512910"/>
              <a:satOff val="-2189"/>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225" tIns="321278" rIns="163225" bIns="321278" numCol="1" spcCol="1270" anchor="ctr" anchorCtr="0">
          <a:noAutofit/>
        </a:bodyPr>
        <a:lstStyle/>
        <a:p>
          <a:pPr marL="0" lvl="0" indent="0" algn="l" defTabSz="977900">
            <a:lnSpc>
              <a:spcPct val="90000"/>
            </a:lnSpc>
            <a:spcBef>
              <a:spcPct val="0"/>
            </a:spcBef>
            <a:spcAft>
              <a:spcPct val="35000"/>
            </a:spcAft>
            <a:buNone/>
          </a:pPr>
          <a:r>
            <a:rPr lang="en-US" sz="2200" kern="1200"/>
            <a:t>Apply a computational pipeline for DGE analysis</a:t>
          </a:r>
        </a:p>
      </dsp:txBody>
      <dsp:txXfrm>
        <a:off x="2103120" y="1342000"/>
        <a:ext cx="8412480" cy="1264874"/>
      </dsp:txXfrm>
    </dsp:sp>
    <dsp:sp modelId="{B4432649-EF13-7A4F-9375-A1A2BD2C4704}">
      <dsp:nvSpPr>
        <dsp:cNvPr id="0" name=""/>
        <dsp:cNvSpPr/>
      </dsp:nvSpPr>
      <dsp:spPr>
        <a:xfrm>
          <a:off x="0" y="1342000"/>
          <a:ext cx="2103120" cy="1264874"/>
        </a:xfrm>
        <a:prstGeom prst="rect">
          <a:avLst/>
        </a:prstGeom>
        <a:solidFill>
          <a:schemeClr val="accent2">
            <a:hueOff val="2340760"/>
            <a:satOff val="-2919"/>
            <a:lumOff val="686"/>
            <a:alphaOff val="0"/>
          </a:schemeClr>
        </a:solidFill>
        <a:ln w="25400" cap="flat" cmpd="sng" algn="ctr">
          <a:solidFill>
            <a:schemeClr val="accent2">
              <a:hueOff val="2340760"/>
              <a:satOff val="-2919"/>
              <a:lumOff val="68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290" tIns="124941" rIns="111290" bIns="124941" numCol="1" spcCol="1270" anchor="ctr" anchorCtr="0">
          <a:noAutofit/>
        </a:bodyPr>
        <a:lstStyle/>
        <a:p>
          <a:pPr marL="0" lvl="0" indent="0" algn="ctr" defTabSz="1244600">
            <a:lnSpc>
              <a:spcPct val="90000"/>
            </a:lnSpc>
            <a:spcBef>
              <a:spcPct val="0"/>
            </a:spcBef>
            <a:spcAft>
              <a:spcPct val="35000"/>
            </a:spcAft>
            <a:buNone/>
          </a:pPr>
          <a:r>
            <a:rPr lang="en-US" sz="2800" kern="1200"/>
            <a:t>Apply</a:t>
          </a:r>
        </a:p>
      </dsp:txBody>
      <dsp:txXfrm>
        <a:off x="0" y="1342000"/>
        <a:ext cx="2103120" cy="1264874"/>
      </dsp:txXfrm>
    </dsp:sp>
    <dsp:sp modelId="{C0120EBA-E012-B74E-9511-D307CC5FA117}">
      <dsp:nvSpPr>
        <dsp:cNvPr id="0" name=""/>
        <dsp:cNvSpPr/>
      </dsp:nvSpPr>
      <dsp:spPr>
        <a:xfrm>
          <a:off x="2103120" y="2682767"/>
          <a:ext cx="8412480" cy="1264874"/>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225" tIns="321278" rIns="163225" bIns="321278" numCol="1" spcCol="1270" anchor="ctr" anchorCtr="0">
          <a:noAutofit/>
        </a:bodyPr>
        <a:lstStyle/>
        <a:p>
          <a:pPr marL="0" lvl="0" indent="0" algn="l" defTabSz="977900">
            <a:lnSpc>
              <a:spcPct val="90000"/>
            </a:lnSpc>
            <a:spcBef>
              <a:spcPct val="0"/>
            </a:spcBef>
            <a:spcAft>
              <a:spcPct val="35000"/>
            </a:spcAft>
            <a:buNone/>
          </a:pPr>
          <a:r>
            <a:rPr lang="en-US" sz="2200" kern="1200"/>
            <a:t>Apply dimension reduction, cluster analysis, 2-D visualization methods, and marker selection to single-cell RNAseq data</a:t>
          </a:r>
        </a:p>
      </dsp:txBody>
      <dsp:txXfrm>
        <a:off x="2103120" y="2682767"/>
        <a:ext cx="8412480" cy="1264874"/>
      </dsp:txXfrm>
    </dsp:sp>
    <dsp:sp modelId="{C299B2CF-319A-FF41-9722-D77426BFB224}">
      <dsp:nvSpPr>
        <dsp:cNvPr id="0" name=""/>
        <dsp:cNvSpPr/>
      </dsp:nvSpPr>
      <dsp:spPr>
        <a:xfrm>
          <a:off x="0" y="2682767"/>
          <a:ext cx="2103120" cy="1264874"/>
        </a:xfrm>
        <a:prstGeom prst="rect">
          <a:avLst/>
        </a:prstGeom>
        <a:solidFill>
          <a:schemeClr val="accent2">
            <a:hueOff val="4681520"/>
            <a:satOff val="-5839"/>
            <a:lumOff val="1373"/>
            <a:alphaOff val="0"/>
          </a:schemeClr>
        </a:solidFill>
        <a:ln w="25400" cap="flat" cmpd="sng" algn="ctr">
          <a:solidFill>
            <a:schemeClr val="accent2">
              <a:hueOff val="4681520"/>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290" tIns="124941" rIns="111290" bIns="124941" numCol="1" spcCol="1270" anchor="ctr" anchorCtr="0">
          <a:noAutofit/>
        </a:bodyPr>
        <a:lstStyle/>
        <a:p>
          <a:pPr marL="0" lvl="0" indent="0" algn="ctr" defTabSz="1244600">
            <a:lnSpc>
              <a:spcPct val="90000"/>
            </a:lnSpc>
            <a:spcBef>
              <a:spcPct val="0"/>
            </a:spcBef>
            <a:spcAft>
              <a:spcPct val="35000"/>
            </a:spcAft>
            <a:buNone/>
          </a:pPr>
          <a:r>
            <a:rPr lang="en-US" sz="2800" kern="1200"/>
            <a:t>Apply</a:t>
          </a:r>
        </a:p>
      </dsp:txBody>
      <dsp:txXfrm>
        <a:off x="0" y="2682767"/>
        <a:ext cx="2103120" cy="1264874"/>
      </dsp:txXfrm>
    </dsp:sp>
  </dsp:spTree>
</dsp:drawing>
</file>

<file path=ppt/diagrams/layout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8AD6B0-6B58-044E-A4A4-B4A711CF4939}"/>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99687127-1B67-5742-BF7C-BC8AB1F8EA4B}"/>
              </a:ext>
            </a:extLst>
          </p:cNvPr>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EEE722D4-8E81-4845-A1F7-BBEAECEE2EEE}" type="datetime1">
              <a:rPr lang="en-US" altLang="en-US"/>
              <a:pPr>
                <a:defRPr/>
              </a:pPr>
              <a:t>2/26/26</a:t>
            </a:fld>
            <a:endParaRPr lang="en-US" altLang="en-US"/>
          </a:p>
        </p:txBody>
      </p:sp>
      <p:sp>
        <p:nvSpPr>
          <p:cNvPr id="4" name="Footer Placeholder 3">
            <a:extLst>
              <a:ext uri="{FF2B5EF4-FFF2-40B4-BE49-F238E27FC236}">
                <a16:creationId xmlns:a16="http://schemas.microsoft.com/office/drawing/2014/main" id="{16C79349-6698-7E4B-B04E-29F40D66350F}"/>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mn-ea"/>
                <a:cs typeface="+mn-cs"/>
              </a:defRPr>
            </a:lvl1pPr>
          </a:lstStyle>
          <a:p>
            <a:pPr>
              <a:defRPr/>
            </a:pPr>
            <a:endParaRPr lang="en-US"/>
          </a:p>
        </p:txBody>
      </p:sp>
      <p:sp>
        <p:nvSpPr>
          <p:cNvPr id="5" name="Slide Number Placeholder 4">
            <a:extLst>
              <a:ext uri="{FF2B5EF4-FFF2-40B4-BE49-F238E27FC236}">
                <a16:creationId xmlns:a16="http://schemas.microsoft.com/office/drawing/2014/main" id="{70FCAE0F-3AD1-B64C-BF84-4D2D71A86F4F}"/>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53940430-4403-C040-A8E8-418F005B264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B081C5-4D8B-6B44-8116-E336B233AC9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32533142-F9EA-D64B-A8B3-AFF0F0CE960C}"/>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anose="020F0502020204030204" pitchFamily="34" charset="0"/>
              </a:defRPr>
            </a:lvl1pPr>
          </a:lstStyle>
          <a:p>
            <a:pPr>
              <a:defRPr/>
            </a:pPr>
            <a:fld id="{B5E999FB-235B-6645-BEF1-EE6536FE7EC3}" type="datetime1">
              <a:rPr lang="en-US" altLang="en-US"/>
              <a:pPr>
                <a:defRPr/>
              </a:pPr>
              <a:t>2/26/26</a:t>
            </a:fld>
            <a:endParaRPr lang="en-US" altLang="en-US"/>
          </a:p>
        </p:txBody>
      </p:sp>
      <p:sp>
        <p:nvSpPr>
          <p:cNvPr id="4" name="Slide Image Placeholder 3">
            <a:extLst>
              <a:ext uri="{FF2B5EF4-FFF2-40B4-BE49-F238E27FC236}">
                <a16:creationId xmlns:a16="http://schemas.microsoft.com/office/drawing/2014/main" id="{B0A7C2FF-7861-9C4E-8396-CE8FCEFBA106}"/>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12ADE1A-C98F-4A4D-A5B8-029E9D23D4F1}"/>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6E7BEB6A-B42B-6842-B253-9F0DC037DB2B}"/>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9D028FF8-B3AB-2549-8AB6-BBEBB654E15B}"/>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D5DB0D2E-058C-1B43-8A13-05C858E13DF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5"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5"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5"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5"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D5DB0D2E-058C-1B43-8A13-05C858E13DF5}" type="slidenum">
              <a:rPr lang="en-US" altLang="en-US" smtClean="0"/>
              <a:pPr>
                <a:defRPr/>
              </a:pPr>
              <a:t>1</a:t>
            </a:fld>
            <a:endParaRPr lang="en-US" altLang="en-US"/>
          </a:p>
        </p:txBody>
      </p:sp>
    </p:spTree>
    <p:extLst>
      <p:ext uri="{BB962C8B-B14F-4D97-AF65-F5344CB8AC3E}">
        <p14:creationId xmlns:p14="http://schemas.microsoft.com/office/powerpoint/2010/main" val="2491840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are the tools we will use to do this: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r>
              <a:rPr lang="en-US" dirty="0"/>
              <a:t>R is the open-source environment and statistical language</a:t>
            </a:r>
          </a:p>
          <a:p>
            <a:endParaRPr lang="en-US" dirty="0"/>
          </a:p>
          <a:p>
            <a:r>
              <a:rPr lang="en-US" dirty="0"/>
              <a:t>Bioconductor is a project focused on software development for high-throughput genomic data. This is the type of data I will be using in this class</a:t>
            </a:r>
          </a:p>
          <a:p>
            <a:endParaRPr lang="en-US" dirty="0"/>
          </a:p>
          <a:p>
            <a:r>
              <a:rPr lang="en-US" dirty="0"/>
              <a:t>RStudio provides more tools for developing and sharing R software.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Together, these tools make it easy to share code and create reproducible reports. Because of this, they are widely-used in research.</a:t>
            </a:r>
          </a:p>
          <a:p>
            <a:endParaRPr lang="en-US" dirty="0"/>
          </a:p>
        </p:txBody>
      </p:sp>
      <p:sp>
        <p:nvSpPr>
          <p:cNvPr id="4" name="Slide Number Placeholder 3"/>
          <p:cNvSpPr>
            <a:spLocks noGrp="1"/>
          </p:cNvSpPr>
          <p:nvPr>
            <p:ph type="sldNum" sz="quarter" idx="5"/>
          </p:nvPr>
        </p:nvSpPr>
        <p:spPr/>
        <p:txBody>
          <a:bodyPr/>
          <a:lstStyle/>
          <a:p>
            <a:pPr>
              <a:defRPr/>
            </a:pPr>
            <a:fld id="{D5DB0D2E-058C-1B43-8A13-05C858E13DF5}" type="slidenum">
              <a:rPr lang="en-US" altLang="en-US" smtClean="0"/>
              <a:pPr>
                <a:defRPr/>
              </a:pPr>
              <a:t>3</a:t>
            </a:fld>
            <a:endParaRPr lang="en-US" altLang="en-US"/>
          </a:p>
        </p:txBody>
      </p:sp>
    </p:spTree>
    <p:extLst>
      <p:ext uri="{BB962C8B-B14F-4D97-AF65-F5344CB8AC3E}">
        <p14:creationId xmlns:p14="http://schemas.microsoft.com/office/powerpoint/2010/main" val="4207391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dirty="0"/>
              <a:t>When developing code, we often have more than version saved on our computer. This is because we have our “clean version” of our finished product, but we may also want to go back and make a change and further develop the code.</a:t>
            </a:r>
          </a:p>
          <a:p>
            <a:endParaRPr lang="en-US" sz="1200" dirty="0"/>
          </a:p>
          <a:p>
            <a:r>
              <a:rPr lang="en-US" sz="1200" dirty="0"/>
              <a:t>We would like is a system to organize our files that allows us to share a clean version, but also still work on the code while maintaining the ability to merge any changes back into our clean version.</a:t>
            </a:r>
          </a:p>
          <a:p>
            <a:endParaRPr lang="en-US" sz="1200" dirty="0"/>
          </a:p>
          <a:p>
            <a:r>
              <a:rPr lang="en-US" sz="1200" dirty="0"/>
              <a:t>Git and GitHub allow us to do this.</a:t>
            </a:r>
          </a:p>
          <a:p>
            <a:endParaRPr lang="en-US" sz="1200" dirty="0"/>
          </a:p>
          <a:p>
            <a:r>
              <a:rPr lang="en-US" sz="1200" dirty="0"/>
              <a:t>GitHub will store your files in the cloud where they can be openly shared.</a:t>
            </a:r>
          </a:p>
          <a:p>
            <a:r>
              <a:rPr lang="en-US" sz="1200" dirty="0"/>
              <a:t>Anyone can make a copy of you code “clone it” to their local machine and use it.  The code I will be using for this class will be available via GitHub for you to ‘clone’ and run on your local machine</a:t>
            </a:r>
          </a:p>
          <a:p>
            <a:endParaRPr lang="en-US" sz="1200" dirty="0"/>
          </a:p>
          <a:p>
            <a:r>
              <a:rPr lang="en-US" sz="1200" dirty="0"/>
              <a:t>Git is the engine that manages the files and copies.  With this tool you can </a:t>
            </a:r>
          </a:p>
          <a:p>
            <a:pPr marL="228600" indent="-228600">
              <a:buAutoNum type="arabicPeriod"/>
            </a:pPr>
            <a:r>
              <a:rPr lang="en-US" sz="1200" dirty="0"/>
              <a:t>freeze a copy of the code for general distribution, while continuing to work on a developmental version of the same code, and </a:t>
            </a:r>
          </a:p>
          <a:p>
            <a:pPr marL="228600" indent="-228600">
              <a:buAutoNum type="arabicPeriod"/>
            </a:pPr>
            <a:r>
              <a:rPr lang="en-US" sz="1200" dirty="0"/>
              <a:t>have the ability to fold any changes you make back into the original code.  All of this can be done seamlessly through Git.</a:t>
            </a:r>
          </a:p>
          <a:p>
            <a:pPr marL="0" indent="0">
              <a:buNone/>
            </a:pPr>
            <a:r>
              <a:rPr lang="en-US" sz="1200" dirty="0"/>
              <a:t>Git will be the interface between </a:t>
            </a:r>
            <a:r>
              <a:rPr lang="en-US" sz="1200" dirty="0" err="1"/>
              <a:t>Rstudio</a:t>
            </a:r>
            <a:r>
              <a:rPr lang="en-US" sz="1200" dirty="0"/>
              <a:t> (your computer work environment) and GitHub (stores the code for class).</a:t>
            </a:r>
          </a:p>
          <a:p>
            <a:endParaRPr lang="en-US" sz="1200" dirty="0"/>
          </a:p>
          <a:p>
            <a:r>
              <a:rPr lang="en-US" sz="1200" dirty="0"/>
              <a:t>These tools are commonly used by software developers.</a:t>
            </a:r>
          </a:p>
        </p:txBody>
      </p:sp>
      <p:sp>
        <p:nvSpPr>
          <p:cNvPr id="4" name="Slide Number Placeholder 3"/>
          <p:cNvSpPr>
            <a:spLocks noGrp="1"/>
          </p:cNvSpPr>
          <p:nvPr>
            <p:ph type="sldNum" sz="quarter" idx="5"/>
          </p:nvPr>
        </p:nvSpPr>
        <p:spPr/>
        <p:txBody>
          <a:bodyPr/>
          <a:lstStyle/>
          <a:p>
            <a:pPr>
              <a:defRPr/>
            </a:pPr>
            <a:fld id="{D5DB0D2E-058C-1B43-8A13-05C858E13DF5}" type="slidenum">
              <a:rPr lang="en-US" altLang="en-US" smtClean="0"/>
              <a:pPr>
                <a:defRPr/>
              </a:pPr>
              <a:t>4</a:t>
            </a:fld>
            <a:endParaRPr lang="en-US" altLang="en-US"/>
          </a:p>
        </p:txBody>
      </p:sp>
    </p:spTree>
    <p:extLst>
      <p:ext uri="{BB962C8B-B14F-4D97-AF65-F5344CB8AC3E}">
        <p14:creationId xmlns:p14="http://schemas.microsoft.com/office/powerpoint/2010/main" val="4180537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Image Placeholder 1">
            <a:extLst>
              <a:ext uri="{FF2B5EF4-FFF2-40B4-BE49-F238E27FC236}">
                <a16:creationId xmlns:a16="http://schemas.microsoft.com/office/drawing/2014/main" id="{CB3E2928-4786-8A4F-B52C-D08ED006EA96}"/>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0" name="Notes Placeholder 2">
            <a:extLst>
              <a:ext uri="{FF2B5EF4-FFF2-40B4-BE49-F238E27FC236}">
                <a16:creationId xmlns:a16="http://schemas.microsoft.com/office/drawing/2014/main" id="{01380269-A03D-E242-B776-CF66A008CDE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ea typeface="ＭＳ Ｐゴシック" panose="020B0600070205080204" pitchFamily="34" charset="-128"/>
            </a:endParaRPr>
          </a:p>
        </p:txBody>
      </p:sp>
      <p:sp>
        <p:nvSpPr>
          <p:cNvPr id="17411" name="Slide Number Placeholder 3">
            <a:extLst>
              <a:ext uri="{FF2B5EF4-FFF2-40B4-BE49-F238E27FC236}">
                <a16:creationId xmlns:a16="http://schemas.microsoft.com/office/drawing/2014/main" id="{7EB46C10-7B98-604D-850F-E60413909BA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37931725" indent="-37474525">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C410E8A9-2EA7-0144-8A0A-9C5ABD374183}" type="slidenum">
              <a:rPr lang="en-US" altLang="en-US" smtClean="0">
                <a:latin typeface="Calibri" panose="020F0502020204030204" pitchFamily="34" charset="0"/>
              </a:rPr>
              <a:pPr/>
              <a:t>5</a:t>
            </a:fld>
            <a:endParaRPr lang="en-US" altLang="en-US">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ACB78D66-CB6C-9749-9437-068127153BB2}"/>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8" name="Notes Placeholder 2">
            <a:extLst>
              <a:ext uri="{FF2B5EF4-FFF2-40B4-BE49-F238E27FC236}">
                <a16:creationId xmlns:a16="http://schemas.microsoft.com/office/drawing/2014/main" id="{A29958EE-3B10-3B46-8114-ECEFB4EBA11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24579" name="Slide Number Placeholder 3">
            <a:extLst>
              <a:ext uri="{FF2B5EF4-FFF2-40B4-BE49-F238E27FC236}">
                <a16:creationId xmlns:a16="http://schemas.microsoft.com/office/drawing/2014/main" id="{A3D452A0-8B79-8745-ABFA-E7D6556F190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37931725" indent="-37474525">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17FF8F6C-4F24-354F-96B5-375B238BE02E}" type="slidenum">
              <a:rPr lang="en-US" altLang="en-US" smtClean="0">
                <a:latin typeface="Calibri" panose="020F0502020204030204" pitchFamily="34" charset="0"/>
              </a:rPr>
              <a:pPr/>
              <a:t>7</a:t>
            </a:fld>
            <a:endParaRPr lang="en-US" altLang="en-US">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F86AF811-F7FE-9649-B11D-1C902BE35AE4}"/>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8" name="Notes Placeholder 2">
            <a:extLst>
              <a:ext uri="{FF2B5EF4-FFF2-40B4-BE49-F238E27FC236}">
                <a16:creationId xmlns:a16="http://schemas.microsoft.com/office/drawing/2014/main" id="{F7BFDD8B-D671-7F4C-812D-DE707DD1414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ea typeface="ＭＳ Ｐゴシック" panose="020B0600070205080204" pitchFamily="34" charset="-128"/>
            </a:endParaRPr>
          </a:p>
        </p:txBody>
      </p:sp>
      <p:sp>
        <p:nvSpPr>
          <p:cNvPr id="24579" name="Slide Number Placeholder 3">
            <a:extLst>
              <a:ext uri="{FF2B5EF4-FFF2-40B4-BE49-F238E27FC236}">
                <a16:creationId xmlns:a16="http://schemas.microsoft.com/office/drawing/2014/main" id="{525AD5BC-BFFF-664C-9265-CEDB324235C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37931725" indent="-37474525">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53C7CFC5-2A31-F644-8D83-0F433ECBE2C7}" type="slidenum">
              <a:rPr lang="en-US" altLang="en-US" smtClean="0">
                <a:latin typeface="Calibri" panose="020F0502020204030204" pitchFamily="34" charset="0"/>
              </a:rPr>
              <a:pPr/>
              <a:t>9</a:t>
            </a:fld>
            <a:endParaRPr lang="en-US" altLang="en-US">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372177C5-02EE-E840-B200-7C969977504E}"/>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8" name="Notes Placeholder 2">
            <a:extLst>
              <a:ext uri="{FF2B5EF4-FFF2-40B4-BE49-F238E27FC236}">
                <a16:creationId xmlns:a16="http://schemas.microsoft.com/office/drawing/2014/main" id="{DA585170-3251-1F41-A863-C3E443FE23B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buFontTx/>
              <a:buNone/>
            </a:pPr>
            <a:r>
              <a:rPr lang="en-US" altLang="en-US" sz="2400" dirty="0">
                <a:latin typeface="Arial" panose="020B0604020202020204" pitchFamily="34" charset="0"/>
              </a:rPr>
              <a:t>Genomic Feature definitions are under your control.</a:t>
            </a:r>
          </a:p>
          <a:p>
            <a:pPr eaLnBrk="1" hangingPunct="1">
              <a:spcBef>
                <a:spcPct val="0"/>
              </a:spcBef>
              <a:buFontTx/>
              <a:buNone/>
            </a:pPr>
            <a:endParaRPr lang="en-US" altLang="en-US" sz="2400" dirty="0">
              <a:latin typeface="Arial" panose="020B0604020202020204" pitchFamily="34" charset="0"/>
            </a:endParaRPr>
          </a:p>
          <a:p>
            <a:pPr eaLnBrk="1" hangingPunct="1">
              <a:spcBef>
                <a:spcPct val="0"/>
              </a:spcBef>
              <a:buFontTx/>
              <a:buNone/>
            </a:pPr>
            <a:r>
              <a:rPr lang="en-US" altLang="en-US" sz="2400" dirty="0">
                <a:latin typeface="Arial" panose="020B0604020202020204" pitchFamily="34" charset="0"/>
              </a:rPr>
              <a:t>Examples of Features:</a:t>
            </a:r>
          </a:p>
          <a:p>
            <a:pPr lvl="1" eaLnBrk="1" hangingPunct="1">
              <a:spcBef>
                <a:spcPct val="0"/>
              </a:spcBef>
              <a:buFontTx/>
              <a:buNone/>
            </a:pPr>
            <a:r>
              <a:rPr lang="en-US" altLang="en-US" sz="2400" dirty="0">
                <a:latin typeface="Arial" panose="020B0604020202020204" pitchFamily="34" charset="0"/>
              </a:rPr>
              <a:t>RNA-seq: Genes (from sequence annotation)/transcript/exon</a:t>
            </a:r>
          </a:p>
          <a:p>
            <a:pPr lvl="1" eaLnBrk="1" hangingPunct="1">
              <a:spcBef>
                <a:spcPct val="0"/>
              </a:spcBef>
              <a:buFontTx/>
              <a:buNone/>
            </a:pPr>
            <a:endParaRPr lang="en-US" altLang="en-US" sz="2400" dirty="0">
              <a:latin typeface="Arial" panose="020B0604020202020204" pitchFamily="34" charset="0"/>
            </a:endParaRPr>
          </a:p>
        </p:txBody>
      </p:sp>
      <p:sp>
        <p:nvSpPr>
          <p:cNvPr id="24579" name="Slide Number Placeholder 3">
            <a:extLst>
              <a:ext uri="{FF2B5EF4-FFF2-40B4-BE49-F238E27FC236}">
                <a16:creationId xmlns:a16="http://schemas.microsoft.com/office/drawing/2014/main" id="{CADB784C-FFAE-CE43-A1B8-92B9C7E7AFE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37931725" indent="-37474525">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3274177A-A6BB-004E-9F4B-01DB131EFD0F}" type="slidenum">
              <a:rPr lang="en-US" altLang="en-US" smtClean="0">
                <a:latin typeface="Calibri" panose="020F0502020204030204" pitchFamily="34" charset="0"/>
              </a:rPr>
              <a:pPr/>
              <a:t>10</a:t>
            </a:fld>
            <a:endParaRPr lang="en-US" altLang="en-US">
              <a:latin typeface="Calibri" panose="020F0502020204030204" pitchFamily="34" charset="0"/>
            </a:endParaRPr>
          </a:p>
        </p:txBody>
      </p:sp>
    </p:spTree>
    <p:extLst>
      <p:ext uri="{BB962C8B-B14F-4D97-AF65-F5344CB8AC3E}">
        <p14:creationId xmlns:p14="http://schemas.microsoft.com/office/powerpoint/2010/main" val="5074832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372177C5-02EE-E840-B200-7C969977504E}"/>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8" name="Notes Placeholder 2">
            <a:extLst>
              <a:ext uri="{FF2B5EF4-FFF2-40B4-BE49-F238E27FC236}">
                <a16:creationId xmlns:a16="http://schemas.microsoft.com/office/drawing/2014/main" id="{DA585170-3251-1F41-A863-C3E443FE23B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buFontTx/>
              <a:buNone/>
            </a:pPr>
            <a:r>
              <a:rPr lang="en-US" altLang="en-US" dirty="0">
                <a:ea typeface="ＭＳ Ｐゴシック" panose="020B0600070205080204" pitchFamily="34" charset="-128"/>
              </a:rPr>
              <a:t>Multiple </a:t>
            </a:r>
          </a:p>
        </p:txBody>
      </p:sp>
      <p:sp>
        <p:nvSpPr>
          <p:cNvPr id="24579" name="Slide Number Placeholder 3">
            <a:extLst>
              <a:ext uri="{FF2B5EF4-FFF2-40B4-BE49-F238E27FC236}">
                <a16:creationId xmlns:a16="http://schemas.microsoft.com/office/drawing/2014/main" id="{CADB784C-FFAE-CE43-A1B8-92B9C7E7AFE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37931725" indent="-37474525">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3274177A-A6BB-004E-9F4B-01DB131EFD0F}" type="slidenum">
              <a:rPr lang="en-US" altLang="en-US" smtClean="0">
                <a:latin typeface="Calibri" panose="020F0502020204030204" pitchFamily="34" charset="0"/>
              </a:rPr>
              <a:pPr/>
              <a:t>12</a:t>
            </a:fld>
            <a:endParaRPr lang="en-US" altLang="en-US">
              <a:latin typeface="Calibri" panose="020F0502020204030204" pitchFamily="34" charset="0"/>
            </a:endParaRPr>
          </a:p>
        </p:txBody>
      </p:sp>
    </p:spTree>
    <p:extLst>
      <p:ext uri="{BB962C8B-B14F-4D97-AF65-F5344CB8AC3E}">
        <p14:creationId xmlns:p14="http://schemas.microsoft.com/office/powerpoint/2010/main" val="19276561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2CE8A-BE14-8676-4912-75C87DE17D87}"/>
            </a:ext>
          </a:extLst>
        </p:cNvPr>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589BDC26-A8EB-2F19-8958-8C88735A7B40}"/>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8" name="Notes Placeholder 2">
            <a:extLst>
              <a:ext uri="{FF2B5EF4-FFF2-40B4-BE49-F238E27FC236}">
                <a16:creationId xmlns:a16="http://schemas.microsoft.com/office/drawing/2014/main" id="{F01B93E6-4A61-50F5-4CDC-E9C3DB8B5D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buFontTx/>
              <a:buNone/>
            </a:pPr>
            <a:r>
              <a:rPr lang="en-US" altLang="en-US" dirty="0">
                <a:ea typeface="ＭＳ Ｐゴシック" panose="020B0600070205080204" pitchFamily="34" charset="-128"/>
              </a:rPr>
              <a:t>Multiple </a:t>
            </a:r>
          </a:p>
        </p:txBody>
      </p:sp>
      <p:sp>
        <p:nvSpPr>
          <p:cNvPr id="24579" name="Slide Number Placeholder 3">
            <a:extLst>
              <a:ext uri="{FF2B5EF4-FFF2-40B4-BE49-F238E27FC236}">
                <a16:creationId xmlns:a16="http://schemas.microsoft.com/office/drawing/2014/main" id="{897F5765-0878-CD18-03AD-1A4B957DEFF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37931725" indent="-37474525">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3274177A-A6BB-004E-9F4B-01DB131EFD0F}" type="slidenum">
              <a:rPr lang="en-US" altLang="en-US" smtClean="0">
                <a:latin typeface="Calibri" panose="020F0502020204030204" pitchFamily="34" charset="0"/>
              </a:rPr>
              <a:pPr/>
              <a:t>14</a:t>
            </a:fld>
            <a:endParaRPr lang="en-US" altLang="en-US">
              <a:latin typeface="Calibri" panose="020F0502020204030204" pitchFamily="34" charset="0"/>
            </a:endParaRPr>
          </a:p>
        </p:txBody>
      </p:sp>
    </p:spTree>
    <p:extLst>
      <p:ext uri="{BB962C8B-B14F-4D97-AF65-F5344CB8AC3E}">
        <p14:creationId xmlns:p14="http://schemas.microsoft.com/office/powerpoint/2010/main" val="166690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normAutofit/>
          </a:bodyPr>
          <a:lstStyle/>
          <a:p>
            <a:endParaRPr/>
          </a:p>
          <a:p>
            <a:r>
              <a:rPr b="1" i="0"/>
              <a:t>Figure 1. </a:t>
            </a:r>
            <a:br/>
            <a:r>
              <a:rPr b="0" i="0"/>
              <a:t>The density of log-CPM values for raw pre-filtered data (A) and post-filtered data (B) are shown for each sample. Dotted vertical lines mark the log-CPM threshold (equivalent to a CPM value of about 0.2) used in the filtering step. </a:t>
            </a:r>
          </a:p>
          <a:p>
            <a:r>
              <a:rPr b="0" i="0"/>
              <a:t>Law CW, Alhamdoosh M, Su S </a:t>
            </a:r>
            <a:r>
              <a:rPr b="0" i="1"/>
              <a:t>et al.</a:t>
            </a:r>
            <a:r>
              <a:rPr b="0" i="0"/>
              <a:t>. RNA-seq analysis is easy as 1-2-3 with limma, Glimma and edgeR [version 3]. </a:t>
            </a:r>
            <a:r>
              <a:rPr b="0" i="1"/>
              <a:t>F1000Research</a:t>
            </a:r>
            <a:r>
              <a:rPr b="0" i="0"/>
              <a:t> 2018, </a:t>
            </a:r>
            <a:r>
              <a:rPr b="1" i="0"/>
              <a:t>5</a:t>
            </a:r>
            <a:r>
              <a:rPr b="0" i="0"/>
              <a:t>:1408 (doi: 10.12688/f1000research.9005.3)</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normAutofit/>
          </a:bodyPr>
          <a:lstStyle/>
          <a:p>
            <a:endParaRPr/>
          </a:p>
          <a:p>
            <a:r>
              <a:rPr b="1" i="0"/>
              <a:t>Figure 3. </a:t>
            </a:r>
            <a:br/>
            <a:r>
              <a:rPr b="0" i="0"/>
              <a:t>MDS plots of log-CPM values over dimensions 1 and 2 with samples coloured and labeled by sample groups (A) and over dimensions 3 and 4 with samples coloured and labeled by sequencing lane (B). Distances on the plot correspond to the leading fold-change, which is the average (root-mean-square) log2-fold-change for the 500 genes most divergent between each pair of samples by default. </a:t>
            </a:r>
          </a:p>
          <a:p>
            <a:r>
              <a:rPr b="0" i="0"/>
              <a:t>Law CW, Alhamdoosh M, Su S </a:t>
            </a:r>
            <a:r>
              <a:rPr b="0" i="1"/>
              <a:t>et al.</a:t>
            </a:r>
            <a:r>
              <a:rPr b="0" i="0"/>
              <a:t>. RNA-seq analysis is easy as 1-2-3 with limma, Glimma and edgeR [version 3]. </a:t>
            </a:r>
            <a:r>
              <a:rPr b="0" i="1"/>
              <a:t>F1000Research</a:t>
            </a:r>
            <a:r>
              <a:rPr b="0" i="0"/>
              <a:t> 2018, </a:t>
            </a:r>
            <a:r>
              <a:rPr b="1" i="0"/>
              <a:t>5</a:t>
            </a:r>
            <a:r>
              <a:rPr b="0" i="0"/>
              <a:t>:1408 (doi: 10.12688/f1000research.9005.3)</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normAutofit/>
          </a:bodyPr>
          <a:lstStyle/>
          <a:p>
            <a:endParaRPr/>
          </a:p>
          <a:p>
            <a:r>
              <a:rPr b="1" i="0"/>
              <a:t>Figure 6. </a:t>
            </a:r>
            <a:br/>
            <a:r>
              <a:rPr b="0" i="0"/>
              <a:t>Interactive mean-difference plot generated using Glimma. Summary data (log-FCs versus log-CPM values) are shown in the left panel which is linked to the individual values per sample for a selected gene in the right panel. A table of results is also displayed below these figures, along with a search bar to allow users to look up a particular gene using the annotation information available, e.g. the Gene symbol identifier Clu. </a:t>
            </a:r>
          </a:p>
          <a:p>
            <a:r>
              <a:rPr b="0" i="0"/>
              <a:t>Law CW, Alhamdoosh M, Su S </a:t>
            </a:r>
            <a:r>
              <a:rPr b="0" i="1"/>
              <a:t>et al.</a:t>
            </a:r>
            <a:r>
              <a:rPr b="0" i="0"/>
              <a:t>. RNA-seq analysis is easy as 1-2-3 with limma, Glimma and edgeR [version 3]. </a:t>
            </a:r>
            <a:r>
              <a:rPr b="0" i="1"/>
              <a:t>F1000Research</a:t>
            </a:r>
            <a:r>
              <a:rPr b="0" i="0"/>
              <a:t> 2018, </a:t>
            </a:r>
            <a:r>
              <a:rPr b="1" i="0"/>
              <a:t>5</a:t>
            </a:r>
            <a:r>
              <a:rPr b="0" i="0"/>
              <a:t>:1408 (doi: 10.12688/f1000research.9005.3)</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normAutofit/>
          </a:bodyPr>
          <a:lstStyle/>
          <a:p>
            <a:endParaRPr/>
          </a:p>
          <a:p>
            <a:r>
              <a:rPr b="1" i="0"/>
              <a:t>Figure 7. </a:t>
            </a:r>
            <a:br/>
            <a:r>
              <a:rPr b="0" i="0"/>
              <a:t>Heatmap of log-CPM values for top 100 genes DE in basal versus LP. Expression across each gene (or row) have been scaled so that mean expression is zero and standard deviation is one. Samples with relatively high expression of a given gene are marked in red and samples with relatively low expression are marked in blue. Lighter shades and white represent genes with intermediate expression levels. Samples and genes have been reordered by the method of hierarchical clustering. A dendrogram is shown for the sample clustering. </a:t>
            </a:r>
          </a:p>
          <a:p>
            <a:r>
              <a:rPr b="0" i="0"/>
              <a:t>Law CW, Alhamdoosh M, Su S </a:t>
            </a:r>
            <a:r>
              <a:rPr b="0" i="1"/>
              <a:t>et al.</a:t>
            </a:r>
            <a:r>
              <a:rPr b="0" i="0"/>
              <a:t>. RNA-seq analysis is easy as 1-2-3 with limma, Glimma and edgeR [version 3]. </a:t>
            </a:r>
            <a:r>
              <a:rPr b="0" i="1"/>
              <a:t>F1000Research</a:t>
            </a:r>
            <a:r>
              <a:rPr b="0" i="0"/>
              <a:t> 2018, </a:t>
            </a:r>
            <a:r>
              <a:rPr b="1" i="0"/>
              <a:t>5</a:t>
            </a:r>
            <a:r>
              <a:rPr b="0" i="0"/>
              <a:t>:1408 (doi: 10.12688/f1000research.9005.3)</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D5DB0D2E-058C-1B43-8A13-05C858E13DF5}" type="slidenum">
              <a:rPr lang="en-US" altLang="en-US" smtClean="0"/>
              <a:pPr>
                <a:defRPr/>
              </a:pPr>
              <a:t>20</a:t>
            </a:fld>
            <a:endParaRPr lang="en-US" altLang="en-US"/>
          </a:p>
        </p:txBody>
      </p:sp>
    </p:spTree>
    <p:extLst>
      <p:ext uri="{BB962C8B-B14F-4D97-AF65-F5344CB8AC3E}">
        <p14:creationId xmlns:p14="http://schemas.microsoft.com/office/powerpoint/2010/main" val="2858096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A499B495-364C-814D-9439-3CDF02D93297}"/>
              </a:ext>
            </a:extLst>
          </p:cNvPr>
          <p:cNvSpPr>
            <a:spLocks noGrp="1"/>
          </p:cNvSpPr>
          <p:nvPr>
            <p:ph type="dt" sz="half" idx="10"/>
          </p:nvPr>
        </p:nvSpPr>
        <p:spPr/>
        <p:txBody>
          <a:bodyPr/>
          <a:lstStyle>
            <a:lvl1pPr>
              <a:defRPr/>
            </a:lvl1pPr>
          </a:lstStyle>
          <a:p>
            <a:pPr>
              <a:defRPr/>
            </a:pPr>
            <a:fld id="{6D3960D0-3ED1-8145-8138-D256F3681364}" type="datetime1">
              <a:rPr lang="en-US" altLang="en-US"/>
              <a:pPr>
                <a:defRPr/>
              </a:pPr>
              <a:t>2/26/26</a:t>
            </a:fld>
            <a:endParaRPr lang="en-US" altLang="en-US"/>
          </a:p>
        </p:txBody>
      </p:sp>
      <p:sp>
        <p:nvSpPr>
          <p:cNvPr id="5" name="Footer Placeholder 4">
            <a:extLst>
              <a:ext uri="{FF2B5EF4-FFF2-40B4-BE49-F238E27FC236}">
                <a16:creationId xmlns:a16="http://schemas.microsoft.com/office/drawing/2014/main" id="{1FCEDD54-8745-F04B-89ED-B6CA0E20DAE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B26635E-C74B-794E-B4F8-982AC094E39A}"/>
              </a:ext>
            </a:extLst>
          </p:cNvPr>
          <p:cNvSpPr>
            <a:spLocks noGrp="1"/>
          </p:cNvSpPr>
          <p:nvPr>
            <p:ph type="sldNum" sz="quarter" idx="12"/>
          </p:nvPr>
        </p:nvSpPr>
        <p:spPr/>
        <p:txBody>
          <a:bodyPr/>
          <a:lstStyle>
            <a:lvl1pPr>
              <a:defRPr/>
            </a:lvl1pPr>
          </a:lstStyle>
          <a:p>
            <a:pPr>
              <a:defRPr/>
            </a:pPr>
            <a:fld id="{4882B2BE-37F7-D04A-8917-F33C040F9FFD}" type="slidenum">
              <a:rPr lang="en-US" altLang="en-US"/>
              <a:pPr>
                <a:defRPr/>
              </a:pPr>
              <a:t>‹#›</a:t>
            </a:fld>
            <a:endParaRPr lang="en-US" altLang="en-US"/>
          </a:p>
        </p:txBody>
      </p:sp>
    </p:spTree>
    <p:extLst>
      <p:ext uri="{BB962C8B-B14F-4D97-AF65-F5344CB8AC3E}">
        <p14:creationId xmlns:p14="http://schemas.microsoft.com/office/powerpoint/2010/main" val="2954886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009146-1373-5C4E-B008-6947F406370F}"/>
              </a:ext>
            </a:extLst>
          </p:cNvPr>
          <p:cNvSpPr>
            <a:spLocks noGrp="1"/>
          </p:cNvSpPr>
          <p:nvPr>
            <p:ph type="dt" sz="half" idx="10"/>
          </p:nvPr>
        </p:nvSpPr>
        <p:spPr/>
        <p:txBody>
          <a:bodyPr/>
          <a:lstStyle>
            <a:lvl1pPr>
              <a:defRPr/>
            </a:lvl1pPr>
          </a:lstStyle>
          <a:p>
            <a:pPr>
              <a:defRPr/>
            </a:pPr>
            <a:fld id="{9C6D1238-FC15-1B4D-95CA-32D2963E30B1}" type="datetime1">
              <a:rPr lang="en-US" altLang="en-US"/>
              <a:pPr>
                <a:defRPr/>
              </a:pPr>
              <a:t>2/26/26</a:t>
            </a:fld>
            <a:endParaRPr lang="en-US" altLang="en-US"/>
          </a:p>
        </p:txBody>
      </p:sp>
      <p:sp>
        <p:nvSpPr>
          <p:cNvPr id="5" name="Footer Placeholder 4">
            <a:extLst>
              <a:ext uri="{FF2B5EF4-FFF2-40B4-BE49-F238E27FC236}">
                <a16:creationId xmlns:a16="http://schemas.microsoft.com/office/drawing/2014/main" id="{41D7698E-6652-0E4A-90F9-90CED7A33BE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18CC738-4F38-6647-913F-25D6A976A835}"/>
              </a:ext>
            </a:extLst>
          </p:cNvPr>
          <p:cNvSpPr>
            <a:spLocks noGrp="1"/>
          </p:cNvSpPr>
          <p:nvPr>
            <p:ph type="sldNum" sz="quarter" idx="12"/>
          </p:nvPr>
        </p:nvSpPr>
        <p:spPr/>
        <p:txBody>
          <a:bodyPr/>
          <a:lstStyle>
            <a:lvl1pPr>
              <a:defRPr/>
            </a:lvl1pPr>
          </a:lstStyle>
          <a:p>
            <a:pPr>
              <a:defRPr/>
            </a:pPr>
            <a:fld id="{09B82BB3-367D-3E49-A00D-E346D4E21EB9}" type="slidenum">
              <a:rPr lang="en-US" altLang="en-US"/>
              <a:pPr>
                <a:defRPr/>
              </a:pPr>
              <a:t>‹#›</a:t>
            </a:fld>
            <a:endParaRPr lang="en-US" altLang="en-US"/>
          </a:p>
        </p:txBody>
      </p:sp>
    </p:spTree>
    <p:extLst>
      <p:ext uri="{BB962C8B-B14F-4D97-AF65-F5344CB8AC3E}">
        <p14:creationId xmlns:p14="http://schemas.microsoft.com/office/powerpoint/2010/main" val="2906874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E797D8-44E0-0243-9D3B-83A6CB29119E}"/>
              </a:ext>
            </a:extLst>
          </p:cNvPr>
          <p:cNvSpPr>
            <a:spLocks noGrp="1"/>
          </p:cNvSpPr>
          <p:nvPr>
            <p:ph type="dt" sz="half" idx="10"/>
          </p:nvPr>
        </p:nvSpPr>
        <p:spPr/>
        <p:txBody>
          <a:bodyPr/>
          <a:lstStyle>
            <a:lvl1pPr>
              <a:defRPr/>
            </a:lvl1pPr>
          </a:lstStyle>
          <a:p>
            <a:pPr>
              <a:defRPr/>
            </a:pPr>
            <a:fld id="{DD8CCB83-2EBE-9D4A-B99F-2042AEA01986}" type="datetime1">
              <a:rPr lang="en-US" altLang="en-US"/>
              <a:pPr>
                <a:defRPr/>
              </a:pPr>
              <a:t>2/26/26</a:t>
            </a:fld>
            <a:endParaRPr lang="en-US" altLang="en-US"/>
          </a:p>
        </p:txBody>
      </p:sp>
      <p:sp>
        <p:nvSpPr>
          <p:cNvPr id="5" name="Footer Placeholder 4">
            <a:extLst>
              <a:ext uri="{FF2B5EF4-FFF2-40B4-BE49-F238E27FC236}">
                <a16:creationId xmlns:a16="http://schemas.microsoft.com/office/drawing/2014/main" id="{4C2BEA67-EAA2-5C41-B6CB-49F61398E78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FFC3B62-4FB0-B342-91D8-681F53B38E21}"/>
              </a:ext>
            </a:extLst>
          </p:cNvPr>
          <p:cNvSpPr>
            <a:spLocks noGrp="1"/>
          </p:cNvSpPr>
          <p:nvPr>
            <p:ph type="sldNum" sz="quarter" idx="12"/>
          </p:nvPr>
        </p:nvSpPr>
        <p:spPr/>
        <p:txBody>
          <a:bodyPr/>
          <a:lstStyle>
            <a:lvl1pPr>
              <a:defRPr/>
            </a:lvl1pPr>
          </a:lstStyle>
          <a:p>
            <a:pPr>
              <a:defRPr/>
            </a:pPr>
            <a:fld id="{5A2CFC0E-2A8E-FB46-A2DA-ED126A5BF956}" type="slidenum">
              <a:rPr lang="en-US" altLang="en-US"/>
              <a:pPr>
                <a:defRPr/>
              </a:pPr>
              <a:t>‹#›</a:t>
            </a:fld>
            <a:endParaRPr lang="en-US" altLang="en-US"/>
          </a:p>
        </p:txBody>
      </p:sp>
    </p:spTree>
    <p:extLst>
      <p:ext uri="{BB962C8B-B14F-4D97-AF65-F5344CB8AC3E}">
        <p14:creationId xmlns:p14="http://schemas.microsoft.com/office/powerpoint/2010/main" val="3744534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60AE5A55-CFD3-6245-A22B-25DEC90D070A}"/>
              </a:ext>
            </a:extLst>
          </p:cNvPr>
          <p:cNvSpPr>
            <a:spLocks noGrp="1"/>
          </p:cNvSpPr>
          <p:nvPr>
            <p:ph type="dt" sz="half" idx="10"/>
          </p:nvPr>
        </p:nvSpPr>
        <p:spPr/>
        <p:txBody>
          <a:bodyPr/>
          <a:lstStyle>
            <a:lvl1pPr>
              <a:defRPr/>
            </a:lvl1pPr>
          </a:lstStyle>
          <a:p>
            <a:pPr>
              <a:defRPr/>
            </a:pPr>
            <a:fld id="{AF6B0B08-7A06-C941-AF9E-001453CF4C81}" type="datetime1">
              <a:rPr lang="en-US" altLang="en-US"/>
              <a:pPr>
                <a:defRPr/>
              </a:pPr>
              <a:t>2/26/26</a:t>
            </a:fld>
            <a:endParaRPr lang="en-US" altLang="en-US"/>
          </a:p>
        </p:txBody>
      </p:sp>
      <p:sp>
        <p:nvSpPr>
          <p:cNvPr id="6" name="Footer Placeholder 4">
            <a:extLst>
              <a:ext uri="{FF2B5EF4-FFF2-40B4-BE49-F238E27FC236}">
                <a16:creationId xmlns:a16="http://schemas.microsoft.com/office/drawing/2014/main" id="{153D0131-5970-124B-8201-1F51F098E2E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BF5229F-437E-AB4A-B41F-4193E9832C0E}"/>
              </a:ext>
            </a:extLst>
          </p:cNvPr>
          <p:cNvSpPr>
            <a:spLocks noGrp="1"/>
          </p:cNvSpPr>
          <p:nvPr>
            <p:ph type="sldNum" sz="quarter" idx="12"/>
          </p:nvPr>
        </p:nvSpPr>
        <p:spPr/>
        <p:txBody>
          <a:bodyPr/>
          <a:lstStyle>
            <a:lvl1pPr>
              <a:defRPr/>
            </a:lvl1pPr>
          </a:lstStyle>
          <a:p>
            <a:pPr>
              <a:defRPr/>
            </a:pPr>
            <a:fld id="{353B3A0C-3757-9243-8B79-5704C5315E91}" type="slidenum">
              <a:rPr lang="en-US" altLang="en-US"/>
              <a:pPr>
                <a:defRPr/>
              </a:pPr>
              <a:t>‹#›</a:t>
            </a:fld>
            <a:endParaRPr lang="en-US" altLang="en-US"/>
          </a:p>
        </p:txBody>
      </p:sp>
    </p:spTree>
    <p:extLst>
      <p:ext uri="{BB962C8B-B14F-4D97-AF65-F5344CB8AC3E}">
        <p14:creationId xmlns:p14="http://schemas.microsoft.com/office/powerpoint/2010/main" val="1669970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8F963210-4D1B-0746-B4AA-7D8062F257D3}"/>
              </a:ext>
            </a:extLst>
          </p:cNvPr>
          <p:cNvSpPr>
            <a:spLocks noGrp="1"/>
          </p:cNvSpPr>
          <p:nvPr>
            <p:ph type="dt" sz="half" idx="10"/>
          </p:nvPr>
        </p:nvSpPr>
        <p:spPr/>
        <p:txBody>
          <a:bodyPr/>
          <a:lstStyle>
            <a:lvl1pPr>
              <a:defRPr/>
            </a:lvl1pPr>
          </a:lstStyle>
          <a:p>
            <a:pPr>
              <a:defRPr/>
            </a:pPr>
            <a:fld id="{6011685B-52B0-5E4F-8241-A05FA65EFE48}" type="datetime1">
              <a:rPr lang="en-US" altLang="en-US"/>
              <a:pPr>
                <a:defRPr/>
              </a:pPr>
              <a:t>2/26/26</a:t>
            </a:fld>
            <a:endParaRPr lang="en-US" altLang="en-US"/>
          </a:p>
        </p:txBody>
      </p:sp>
      <p:sp>
        <p:nvSpPr>
          <p:cNvPr id="8" name="Footer Placeholder 4">
            <a:extLst>
              <a:ext uri="{FF2B5EF4-FFF2-40B4-BE49-F238E27FC236}">
                <a16:creationId xmlns:a16="http://schemas.microsoft.com/office/drawing/2014/main" id="{00A57A81-605D-B448-95DC-4852DE157AB3}"/>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291C6D4E-EA75-A141-A45A-652603AB86FC}"/>
              </a:ext>
            </a:extLst>
          </p:cNvPr>
          <p:cNvSpPr>
            <a:spLocks noGrp="1"/>
          </p:cNvSpPr>
          <p:nvPr>
            <p:ph type="sldNum" sz="quarter" idx="12"/>
          </p:nvPr>
        </p:nvSpPr>
        <p:spPr/>
        <p:txBody>
          <a:bodyPr/>
          <a:lstStyle>
            <a:lvl1pPr>
              <a:defRPr/>
            </a:lvl1pPr>
          </a:lstStyle>
          <a:p>
            <a:pPr>
              <a:defRPr/>
            </a:pPr>
            <a:fld id="{6E3B8CAD-741E-B34D-BA40-A8039B6B9B4C}" type="slidenum">
              <a:rPr lang="en-US" altLang="en-US"/>
              <a:pPr>
                <a:defRPr/>
              </a:pPr>
              <a:t>‹#›</a:t>
            </a:fld>
            <a:endParaRPr lang="en-US" altLang="en-US"/>
          </a:p>
        </p:txBody>
      </p:sp>
    </p:spTree>
    <p:extLst>
      <p:ext uri="{BB962C8B-B14F-4D97-AF65-F5344CB8AC3E}">
        <p14:creationId xmlns:p14="http://schemas.microsoft.com/office/powerpoint/2010/main" val="2949280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B521DCC4-A202-7B4F-8637-6F9BB1FC4D7C}"/>
              </a:ext>
            </a:extLst>
          </p:cNvPr>
          <p:cNvSpPr>
            <a:spLocks noGrp="1"/>
          </p:cNvSpPr>
          <p:nvPr>
            <p:ph type="dt" sz="half" idx="10"/>
          </p:nvPr>
        </p:nvSpPr>
        <p:spPr/>
        <p:txBody>
          <a:bodyPr/>
          <a:lstStyle>
            <a:lvl1pPr>
              <a:defRPr/>
            </a:lvl1pPr>
          </a:lstStyle>
          <a:p>
            <a:pPr>
              <a:defRPr/>
            </a:pPr>
            <a:fld id="{7FDFAF7E-9490-C043-9CA2-4A43EF385F82}" type="datetime1">
              <a:rPr lang="en-US" altLang="en-US"/>
              <a:pPr>
                <a:defRPr/>
              </a:pPr>
              <a:t>2/26/26</a:t>
            </a:fld>
            <a:endParaRPr lang="en-US" altLang="en-US"/>
          </a:p>
        </p:txBody>
      </p:sp>
      <p:sp>
        <p:nvSpPr>
          <p:cNvPr id="4" name="Footer Placeholder 4">
            <a:extLst>
              <a:ext uri="{FF2B5EF4-FFF2-40B4-BE49-F238E27FC236}">
                <a16:creationId xmlns:a16="http://schemas.microsoft.com/office/drawing/2014/main" id="{151F21E5-A168-CB49-A61B-1773C8AE474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32033E10-5AF2-A141-B951-F99FD8DA604E}"/>
              </a:ext>
            </a:extLst>
          </p:cNvPr>
          <p:cNvSpPr>
            <a:spLocks noGrp="1"/>
          </p:cNvSpPr>
          <p:nvPr>
            <p:ph type="sldNum" sz="quarter" idx="12"/>
          </p:nvPr>
        </p:nvSpPr>
        <p:spPr/>
        <p:txBody>
          <a:bodyPr/>
          <a:lstStyle>
            <a:lvl1pPr>
              <a:defRPr/>
            </a:lvl1pPr>
          </a:lstStyle>
          <a:p>
            <a:pPr>
              <a:defRPr/>
            </a:pPr>
            <a:fld id="{315BDC06-A172-5242-9F6E-C8C1F6676AD0}" type="slidenum">
              <a:rPr lang="en-US" altLang="en-US"/>
              <a:pPr>
                <a:defRPr/>
              </a:pPr>
              <a:t>‹#›</a:t>
            </a:fld>
            <a:endParaRPr lang="en-US" altLang="en-US"/>
          </a:p>
        </p:txBody>
      </p:sp>
    </p:spTree>
    <p:extLst>
      <p:ext uri="{BB962C8B-B14F-4D97-AF65-F5344CB8AC3E}">
        <p14:creationId xmlns:p14="http://schemas.microsoft.com/office/powerpoint/2010/main" val="3812413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231D56E-007D-3649-81DC-6679F82BB21D}"/>
              </a:ext>
            </a:extLst>
          </p:cNvPr>
          <p:cNvSpPr>
            <a:spLocks noGrp="1"/>
          </p:cNvSpPr>
          <p:nvPr>
            <p:ph type="dt" sz="half" idx="10"/>
          </p:nvPr>
        </p:nvSpPr>
        <p:spPr/>
        <p:txBody>
          <a:bodyPr/>
          <a:lstStyle>
            <a:lvl1pPr>
              <a:defRPr/>
            </a:lvl1pPr>
          </a:lstStyle>
          <a:p>
            <a:pPr>
              <a:defRPr/>
            </a:pPr>
            <a:fld id="{2E9AF2B1-1B6A-6C4F-BE5A-ED9670F1AC4A}" type="datetime1">
              <a:rPr lang="en-US" altLang="en-US"/>
              <a:pPr>
                <a:defRPr/>
              </a:pPr>
              <a:t>2/26/26</a:t>
            </a:fld>
            <a:endParaRPr lang="en-US" altLang="en-US"/>
          </a:p>
        </p:txBody>
      </p:sp>
      <p:sp>
        <p:nvSpPr>
          <p:cNvPr id="3" name="Footer Placeholder 4">
            <a:extLst>
              <a:ext uri="{FF2B5EF4-FFF2-40B4-BE49-F238E27FC236}">
                <a16:creationId xmlns:a16="http://schemas.microsoft.com/office/drawing/2014/main" id="{5F977938-E2BF-FC48-91A8-EAE266CE0C09}"/>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04DF1769-1555-524F-A3AD-E8AF5B87D761}"/>
              </a:ext>
            </a:extLst>
          </p:cNvPr>
          <p:cNvSpPr>
            <a:spLocks noGrp="1"/>
          </p:cNvSpPr>
          <p:nvPr>
            <p:ph type="sldNum" sz="quarter" idx="12"/>
          </p:nvPr>
        </p:nvSpPr>
        <p:spPr/>
        <p:txBody>
          <a:bodyPr/>
          <a:lstStyle>
            <a:lvl1pPr>
              <a:defRPr/>
            </a:lvl1pPr>
          </a:lstStyle>
          <a:p>
            <a:pPr>
              <a:defRPr/>
            </a:pPr>
            <a:fld id="{5B38E9D3-8CED-2C4E-B491-89BCCB43A0F2}" type="slidenum">
              <a:rPr lang="en-US" altLang="en-US"/>
              <a:pPr>
                <a:defRPr/>
              </a:pPr>
              <a:t>‹#›</a:t>
            </a:fld>
            <a:endParaRPr lang="en-US" altLang="en-US"/>
          </a:p>
        </p:txBody>
      </p:sp>
    </p:spTree>
    <p:extLst>
      <p:ext uri="{BB962C8B-B14F-4D97-AF65-F5344CB8AC3E}">
        <p14:creationId xmlns:p14="http://schemas.microsoft.com/office/powerpoint/2010/main" val="3872645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F4E2197A-B31E-D44A-A789-6E53A20DB549}"/>
              </a:ext>
            </a:extLst>
          </p:cNvPr>
          <p:cNvSpPr>
            <a:spLocks noGrp="1"/>
          </p:cNvSpPr>
          <p:nvPr>
            <p:ph type="dt" sz="half" idx="10"/>
          </p:nvPr>
        </p:nvSpPr>
        <p:spPr/>
        <p:txBody>
          <a:bodyPr/>
          <a:lstStyle>
            <a:lvl1pPr>
              <a:defRPr/>
            </a:lvl1pPr>
          </a:lstStyle>
          <a:p>
            <a:pPr>
              <a:defRPr/>
            </a:pPr>
            <a:fld id="{926557EB-86FC-1C4C-A1FE-F00253E60AFC}" type="datetime1">
              <a:rPr lang="en-US" altLang="en-US"/>
              <a:pPr>
                <a:defRPr/>
              </a:pPr>
              <a:t>2/26/26</a:t>
            </a:fld>
            <a:endParaRPr lang="en-US" altLang="en-US"/>
          </a:p>
        </p:txBody>
      </p:sp>
      <p:sp>
        <p:nvSpPr>
          <p:cNvPr id="6" name="Footer Placeholder 4">
            <a:extLst>
              <a:ext uri="{FF2B5EF4-FFF2-40B4-BE49-F238E27FC236}">
                <a16:creationId xmlns:a16="http://schemas.microsoft.com/office/drawing/2014/main" id="{24D61C49-F799-5E46-839D-13458234188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53FB531-2FE3-984B-A752-07F3546F3429}"/>
              </a:ext>
            </a:extLst>
          </p:cNvPr>
          <p:cNvSpPr>
            <a:spLocks noGrp="1"/>
          </p:cNvSpPr>
          <p:nvPr>
            <p:ph type="sldNum" sz="quarter" idx="12"/>
          </p:nvPr>
        </p:nvSpPr>
        <p:spPr/>
        <p:txBody>
          <a:bodyPr/>
          <a:lstStyle>
            <a:lvl1pPr>
              <a:defRPr/>
            </a:lvl1pPr>
          </a:lstStyle>
          <a:p>
            <a:pPr>
              <a:defRPr/>
            </a:pPr>
            <a:fld id="{4AFB6AAE-2535-9F4F-9536-349F44EB056B}" type="slidenum">
              <a:rPr lang="en-US" altLang="en-US"/>
              <a:pPr>
                <a:defRPr/>
              </a:pPr>
              <a:t>‹#›</a:t>
            </a:fld>
            <a:endParaRPr lang="en-US" altLang="en-US"/>
          </a:p>
        </p:txBody>
      </p:sp>
    </p:spTree>
    <p:extLst>
      <p:ext uri="{BB962C8B-B14F-4D97-AF65-F5344CB8AC3E}">
        <p14:creationId xmlns:p14="http://schemas.microsoft.com/office/powerpoint/2010/main" val="2916033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23334578-56A2-C14B-83CA-7506C9876093}"/>
              </a:ext>
            </a:extLst>
          </p:cNvPr>
          <p:cNvSpPr>
            <a:spLocks noGrp="1"/>
          </p:cNvSpPr>
          <p:nvPr>
            <p:ph type="dt" sz="half" idx="10"/>
          </p:nvPr>
        </p:nvSpPr>
        <p:spPr/>
        <p:txBody>
          <a:bodyPr/>
          <a:lstStyle>
            <a:lvl1pPr>
              <a:defRPr/>
            </a:lvl1pPr>
          </a:lstStyle>
          <a:p>
            <a:pPr>
              <a:defRPr/>
            </a:pPr>
            <a:fld id="{045F95CF-A182-1246-AAFD-CE5D126607CB}" type="datetime1">
              <a:rPr lang="en-US" altLang="en-US"/>
              <a:pPr>
                <a:defRPr/>
              </a:pPr>
              <a:t>2/26/26</a:t>
            </a:fld>
            <a:endParaRPr lang="en-US" altLang="en-US"/>
          </a:p>
        </p:txBody>
      </p:sp>
      <p:sp>
        <p:nvSpPr>
          <p:cNvPr id="6" name="Footer Placeholder 4">
            <a:extLst>
              <a:ext uri="{FF2B5EF4-FFF2-40B4-BE49-F238E27FC236}">
                <a16:creationId xmlns:a16="http://schemas.microsoft.com/office/drawing/2014/main" id="{8454C31A-1613-984F-B408-E1CFEB27017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DD7B4A0-C56B-1542-8C19-D33A830D01D3}"/>
              </a:ext>
            </a:extLst>
          </p:cNvPr>
          <p:cNvSpPr>
            <a:spLocks noGrp="1"/>
          </p:cNvSpPr>
          <p:nvPr>
            <p:ph type="sldNum" sz="quarter" idx="12"/>
          </p:nvPr>
        </p:nvSpPr>
        <p:spPr/>
        <p:txBody>
          <a:bodyPr/>
          <a:lstStyle>
            <a:lvl1pPr>
              <a:defRPr/>
            </a:lvl1pPr>
          </a:lstStyle>
          <a:p>
            <a:pPr>
              <a:defRPr/>
            </a:pPr>
            <a:fld id="{582B5387-9913-894A-BE87-28D83AB230AD}" type="slidenum">
              <a:rPr lang="en-US" altLang="en-US"/>
              <a:pPr>
                <a:defRPr/>
              </a:pPr>
              <a:t>‹#›</a:t>
            </a:fld>
            <a:endParaRPr lang="en-US" altLang="en-US"/>
          </a:p>
        </p:txBody>
      </p:sp>
    </p:spTree>
    <p:extLst>
      <p:ext uri="{BB962C8B-B14F-4D97-AF65-F5344CB8AC3E}">
        <p14:creationId xmlns:p14="http://schemas.microsoft.com/office/powerpoint/2010/main" val="2465745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FA6624-D722-4848-A4DC-E26C891F4C78}"/>
              </a:ext>
            </a:extLst>
          </p:cNvPr>
          <p:cNvSpPr>
            <a:spLocks noGrp="1"/>
          </p:cNvSpPr>
          <p:nvPr>
            <p:ph type="dt" sz="half" idx="10"/>
          </p:nvPr>
        </p:nvSpPr>
        <p:spPr/>
        <p:txBody>
          <a:bodyPr/>
          <a:lstStyle>
            <a:lvl1pPr>
              <a:defRPr/>
            </a:lvl1pPr>
          </a:lstStyle>
          <a:p>
            <a:pPr>
              <a:defRPr/>
            </a:pPr>
            <a:fld id="{CB0ED6DE-79C2-D54C-B13F-3E44C3F0E748}" type="datetime1">
              <a:rPr lang="en-US" altLang="en-US"/>
              <a:pPr>
                <a:defRPr/>
              </a:pPr>
              <a:t>2/26/26</a:t>
            </a:fld>
            <a:endParaRPr lang="en-US" altLang="en-US"/>
          </a:p>
        </p:txBody>
      </p:sp>
      <p:sp>
        <p:nvSpPr>
          <p:cNvPr id="5" name="Footer Placeholder 4">
            <a:extLst>
              <a:ext uri="{FF2B5EF4-FFF2-40B4-BE49-F238E27FC236}">
                <a16:creationId xmlns:a16="http://schemas.microsoft.com/office/drawing/2014/main" id="{AE1A7FD7-8AFE-BF45-BC02-A85E2787CA3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5679D71-4C02-EE49-A51E-DBD9818EDE52}"/>
              </a:ext>
            </a:extLst>
          </p:cNvPr>
          <p:cNvSpPr>
            <a:spLocks noGrp="1"/>
          </p:cNvSpPr>
          <p:nvPr>
            <p:ph type="sldNum" sz="quarter" idx="12"/>
          </p:nvPr>
        </p:nvSpPr>
        <p:spPr/>
        <p:txBody>
          <a:bodyPr/>
          <a:lstStyle>
            <a:lvl1pPr>
              <a:defRPr/>
            </a:lvl1pPr>
          </a:lstStyle>
          <a:p>
            <a:pPr>
              <a:defRPr/>
            </a:pPr>
            <a:fld id="{6FB8651E-7E41-3541-943A-F4D28EA156D4}" type="slidenum">
              <a:rPr lang="en-US" altLang="en-US"/>
              <a:pPr>
                <a:defRPr/>
              </a:pPr>
              <a:t>‹#›</a:t>
            </a:fld>
            <a:endParaRPr lang="en-US" altLang="en-US"/>
          </a:p>
        </p:txBody>
      </p:sp>
    </p:spTree>
    <p:extLst>
      <p:ext uri="{BB962C8B-B14F-4D97-AF65-F5344CB8AC3E}">
        <p14:creationId xmlns:p14="http://schemas.microsoft.com/office/powerpoint/2010/main" val="1502063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5C7B62-5DB0-1647-8086-FE999C16C451}"/>
              </a:ext>
            </a:extLst>
          </p:cNvPr>
          <p:cNvSpPr>
            <a:spLocks noGrp="1"/>
          </p:cNvSpPr>
          <p:nvPr>
            <p:ph type="dt" sz="half" idx="10"/>
          </p:nvPr>
        </p:nvSpPr>
        <p:spPr/>
        <p:txBody>
          <a:bodyPr/>
          <a:lstStyle>
            <a:lvl1pPr>
              <a:defRPr/>
            </a:lvl1pPr>
          </a:lstStyle>
          <a:p>
            <a:pPr>
              <a:defRPr/>
            </a:pPr>
            <a:fld id="{26FD9664-C0B8-EA49-91A3-D48BA68FC3AE}" type="datetime1">
              <a:rPr lang="en-US" altLang="en-US"/>
              <a:pPr>
                <a:defRPr/>
              </a:pPr>
              <a:t>2/26/26</a:t>
            </a:fld>
            <a:endParaRPr lang="en-US" altLang="en-US"/>
          </a:p>
        </p:txBody>
      </p:sp>
      <p:sp>
        <p:nvSpPr>
          <p:cNvPr id="5" name="Footer Placeholder 4">
            <a:extLst>
              <a:ext uri="{FF2B5EF4-FFF2-40B4-BE49-F238E27FC236}">
                <a16:creationId xmlns:a16="http://schemas.microsoft.com/office/drawing/2014/main" id="{E088C520-78EB-B642-B40E-BBBCB83627F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6D67BA8-52AF-D34F-9E16-826F98C2D7DB}"/>
              </a:ext>
            </a:extLst>
          </p:cNvPr>
          <p:cNvSpPr>
            <a:spLocks noGrp="1"/>
          </p:cNvSpPr>
          <p:nvPr>
            <p:ph type="sldNum" sz="quarter" idx="12"/>
          </p:nvPr>
        </p:nvSpPr>
        <p:spPr/>
        <p:txBody>
          <a:bodyPr/>
          <a:lstStyle>
            <a:lvl1pPr>
              <a:defRPr/>
            </a:lvl1pPr>
          </a:lstStyle>
          <a:p>
            <a:pPr>
              <a:defRPr/>
            </a:pPr>
            <a:fld id="{7F12139E-BF4C-234E-82E6-606A3589272D}" type="slidenum">
              <a:rPr lang="en-US" altLang="en-US"/>
              <a:pPr>
                <a:defRPr/>
              </a:pPr>
              <a:t>‹#›</a:t>
            </a:fld>
            <a:endParaRPr lang="en-US" altLang="en-US"/>
          </a:p>
        </p:txBody>
      </p:sp>
    </p:spTree>
    <p:extLst>
      <p:ext uri="{BB962C8B-B14F-4D97-AF65-F5344CB8AC3E}">
        <p14:creationId xmlns:p14="http://schemas.microsoft.com/office/powerpoint/2010/main" val="1094230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106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35931E9-B043-D044-BA8C-AA0BF8F14366}"/>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5AADBB53-94A2-CD45-9473-CF89584A3BCC}"/>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F464921-AF2D-3145-805C-AA455C8F96C1}"/>
              </a:ext>
            </a:extLst>
          </p:cNvPr>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anose="020F0502020204030204" pitchFamily="34" charset="0"/>
              </a:defRPr>
            </a:lvl1pPr>
          </a:lstStyle>
          <a:p>
            <a:pPr>
              <a:defRPr/>
            </a:pPr>
            <a:fld id="{F2258746-43EE-2C48-8A45-7E7FD9F3F21C}" type="datetime1">
              <a:rPr lang="en-US" altLang="en-US"/>
              <a:pPr>
                <a:defRPr/>
              </a:pPr>
              <a:t>2/26/26</a:t>
            </a:fld>
            <a:endParaRPr lang="en-US" altLang="en-US"/>
          </a:p>
        </p:txBody>
      </p:sp>
      <p:sp>
        <p:nvSpPr>
          <p:cNvPr id="5" name="Footer Placeholder 4">
            <a:extLst>
              <a:ext uri="{FF2B5EF4-FFF2-40B4-BE49-F238E27FC236}">
                <a16:creationId xmlns:a16="http://schemas.microsoft.com/office/drawing/2014/main" id="{C362ECE0-362F-6144-BDC6-91641A05D33D}"/>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a:defRPr/>
            </a:pPr>
            <a:endParaRPr lang="en-US"/>
          </a:p>
        </p:txBody>
      </p:sp>
      <p:sp>
        <p:nvSpPr>
          <p:cNvPr id="6" name="Slide Number Placeholder 5">
            <a:extLst>
              <a:ext uri="{FF2B5EF4-FFF2-40B4-BE49-F238E27FC236}">
                <a16:creationId xmlns:a16="http://schemas.microsoft.com/office/drawing/2014/main" id="{265F080C-7B0D-6F41-B32B-95F292BA6C08}"/>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99F94AFE-9CD7-2A4C-930A-CD404201007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ctr"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2pPr>
      <a:lvl3pPr algn="ctr"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3pPr>
      <a:lvl4pPr algn="ctr"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4pPr>
      <a:lvl5pPr algn="ctr"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ＭＳ Ｐゴシック" pitchFamily="-105" charset="-128"/>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pitchFamily="-105" charset="-128"/>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pitchFamily="-105" charset="-128"/>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pitchFamily="-105"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f1000research.com/articles/5-1408/v3"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hyperlink" Target="https://bioconductor.org/books/3.17/OSCA.intro/analysis-overview.html#quick-start-simple"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hyperlink" Target="http://github.com/ksiegmund/bioc_fgd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5AC87C-3A0A-DB4F-F70E-DF964646072E}"/>
              </a:ext>
            </a:extLst>
          </p:cNvPr>
          <p:cNvSpPr>
            <a:spLocks noGrp="1"/>
          </p:cNvSpPr>
          <p:nvPr>
            <p:ph type="ctrTitle"/>
          </p:nvPr>
        </p:nvSpPr>
        <p:spPr>
          <a:xfrm>
            <a:off x="838200" y="451381"/>
            <a:ext cx="10512552" cy="4066540"/>
          </a:xfrm>
        </p:spPr>
        <p:txBody>
          <a:bodyPr anchor="b">
            <a:normAutofit/>
          </a:bodyPr>
          <a:lstStyle/>
          <a:p>
            <a:pPr algn="l"/>
            <a:r>
              <a:rPr lang="en-US" sz="6600"/>
              <a:t>Differential Gene Expression (DGE) in R</a:t>
            </a:r>
          </a:p>
        </p:txBody>
      </p:sp>
      <p:sp>
        <p:nvSpPr>
          <p:cNvPr id="3" name="Subtitle 2">
            <a:extLst>
              <a:ext uri="{FF2B5EF4-FFF2-40B4-BE49-F238E27FC236}">
                <a16:creationId xmlns:a16="http://schemas.microsoft.com/office/drawing/2014/main" id="{B8A21E55-23AD-7D92-F077-56D22412648C}"/>
              </a:ext>
            </a:extLst>
          </p:cNvPr>
          <p:cNvSpPr>
            <a:spLocks noGrp="1"/>
          </p:cNvSpPr>
          <p:nvPr>
            <p:ph type="subTitle" idx="1"/>
          </p:nvPr>
        </p:nvSpPr>
        <p:spPr>
          <a:xfrm>
            <a:off x="838199" y="4983276"/>
            <a:ext cx="10512552" cy="1126680"/>
          </a:xfrm>
        </p:spPr>
        <p:txBody>
          <a:bodyPr>
            <a:normAutofit/>
          </a:bodyPr>
          <a:lstStyle/>
          <a:p>
            <a:pPr algn="l">
              <a:lnSpc>
                <a:spcPct val="90000"/>
              </a:lnSpc>
            </a:pPr>
            <a:r>
              <a:rPr lang="en-US" dirty="0"/>
              <a:t>Kim Siegmund</a:t>
            </a:r>
            <a:endParaRPr lang="en-US"/>
          </a:p>
          <a:p>
            <a:pPr algn="l">
              <a:lnSpc>
                <a:spcPct val="90000"/>
              </a:lnSpc>
            </a:pPr>
            <a:r>
              <a:rPr lang="en-US" dirty="0" err="1"/>
              <a:t>kims@usc.edu</a:t>
            </a:r>
            <a:endParaRPr lang="en-US"/>
          </a:p>
        </p:txBody>
      </p:sp>
      <p:sp>
        <p:nvSpPr>
          <p:cNvPr id="23"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4226F346-22C9-D2F1-18CC-6B3D1AB1BF47}"/>
              </a:ext>
            </a:extLst>
          </p:cNvPr>
          <p:cNvSpPr>
            <a:spLocks noGrp="1"/>
          </p:cNvSpPr>
          <p:nvPr>
            <p:ph type="sldNum" sz="quarter" idx="12"/>
          </p:nvPr>
        </p:nvSpPr>
        <p:spPr>
          <a:xfrm>
            <a:off x="8610600" y="6356350"/>
            <a:ext cx="2743200" cy="365125"/>
          </a:xfrm>
        </p:spPr>
        <p:txBody>
          <a:bodyPr>
            <a:normAutofit/>
          </a:bodyPr>
          <a:lstStyle/>
          <a:p>
            <a:pPr>
              <a:spcAft>
                <a:spcPts val="600"/>
              </a:spcAft>
              <a:defRPr/>
            </a:pPr>
            <a:fld id="{4882B2BE-37F7-D04A-8917-F33C040F9FFD}" type="slidenum">
              <a:rPr lang="en-US" altLang="en-US"/>
              <a:pPr>
                <a:spcAft>
                  <a:spcPts val="600"/>
                </a:spcAft>
                <a:defRPr/>
              </a:pPr>
              <a:t>1</a:t>
            </a:fld>
            <a:endParaRPr lang="en-US" altLang="en-US"/>
          </a:p>
        </p:txBody>
      </p:sp>
    </p:spTree>
    <p:extLst>
      <p:ext uri="{BB962C8B-B14F-4D97-AF65-F5344CB8AC3E}">
        <p14:creationId xmlns:p14="http://schemas.microsoft.com/office/powerpoint/2010/main" val="2642242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6B3B30-F0E2-6ACD-593E-A6C9CAA57F81}"/>
              </a:ext>
            </a:extLst>
          </p:cNvPr>
          <p:cNvSpPr>
            <a:spLocks noGrp="1"/>
          </p:cNvSpPr>
          <p:nvPr>
            <p:ph type="title"/>
          </p:nvPr>
        </p:nvSpPr>
        <p:spPr>
          <a:xfrm>
            <a:off x="838200" y="365125"/>
            <a:ext cx="10515600" cy="1325563"/>
          </a:xfrm>
        </p:spPr>
        <p:txBody>
          <a:bodyPr>
            <a:normAutofit/>
          </a:bodyPr>
          <a:lstStyle/>
          <a:p>
            <a:r>
              <a:rPr lang="en-US" sz="5400" b="1"/>
              <a:t>Learning Objectives</a:t>
            </a:r>
          </a:p>
        </p:txBody>
      </p:sp>
      <p:sp>
        <p:nvSpPr>
          <p:cNvPr id="13"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E45CDC1F-7AA9-B61D-CAB0-119650058C22}"/>
              </a:ext>
            </a:extLst>
          </p:cNvPr>
          <p:cNvSpPr>
            <a:spLocks noGrp="1"/>
          </p:cNvSpPr>
          <p:nvPr>
            <p:ph type="ftr" sz="quarter" idx="11"/>
          </p:nvPr>
        </p:nvSpPr>
        <p:spPr>
          <a:xfrm>
            <a:off x="4038600" y="6356350"/>
            <a:ext cx="4114800" cy="365125"/>
          </a:xfrm>
        </p:spPr>
        <p:txBody>
          <a:bodyPr>
            <a:normAutofit/>
          </a:bodyPr>
          <a:lstStyle/>
          <a:p>
            <a:pPr>
              <a:defRPr/>
            </a:pPr>
            <a:endParaRPr lang="en-US"/>
          </a:p>
        </p:txBody>
      </p:sp>
      <p:sp>
        <p:nvSpPr>
          <p:cNvPr id="5" name="Slide Number Placeholder 4">
            <a:extLst>
              <a:ext uri="{FF2B5EF4-FFF2-40B4-BE49-F238E27FC236}">
                <a16:creationId xmlns:a16="http://schemas.microsoft.com/office/drawing/2014/main" id="{CA079A1C-9B76-5B5E-5D39-731C301C7BF7}"/>
              </a:ext>
            </a:extLst>
          </p:cNvPr>
          <p:cNvSpPr>
            <a:spLocks noGrp="1"/>
          </p:cNvSpPr>
          <p:nvPr>
            <p:ph type="sldNum" sz="quarter" idx="12"/>
          </p:nvPr>
        </p:nvSpPr>
        <p:spPr>
          <a:xfrm>
            <a:off x="8610600" y="6356350"/>
            <a:ext cx="2743200" cy="365125"/>
          </a:xfrm>
        </p:spPr>
        <p:txBody>
          <a:bodyPr>
            <a:normAutofit/>
          </a:bodyPr>
          <a:lstStyle/>
          <a:p>
            <a:pPr>
              <a:spcAft>
                <a:spcPts val="600"/>
              </a:spcAft>
              <a:defRPr/>
            </a:pPr>
            <a:fld id="{09B82BB3-367D-3E49-A00D-E346D4E21EB9}" type="slidenum">
              <a:rPr lang="en-US" altLang="en-US" smtClean="0"/>
              <a:pPr>
                <a:spcAft>
                  <a:spcPts val="600"/>
                </a:spcAft>
                <a:defRPr/>
              </a:pPr>
              <a:t>2</a:t>
            </a:fld>
            <a:endParaRPr lang="en-US" altLang="en-US"/>
          </a:p>
        </p:txBody>
      </p:sp>
      <p:graphicFrame>
        <p:nvGraphicFramePr>
          <p:cNvPr id="7" name="Content Placeholder 2">
            <a:extLst>
              <a:ext uri="{FF2B5EF4-FFF2-40B4-BE49-F238E27FC236}">
                <a16:creationId xmlns:a16="http://schemas.microsoft.com/office/drawing/2014/main" id="{C7CF7C4B-0297-BB3A-6FC9-B2B14856F8BE}"/>
              </a:ext>
            </a:extLst>
          </p:cNvPr>
          <p:cNvGraphicFramePr>
            <a:graphicFrameLocks noGrp="1"/>
          </p:cNvGraphicFramePr>
          <p:nvPr>
            <p:ph idx="1"/>
            <p:extLst>
              <p:ext uri="{D42A27DB-BD31-4B8C-83A1-F6EECF244321}">
                <p14:modId xmlns:p14="http://schemas.microsoft.com/office/powerpoint/2010/main" val="2192880203"/>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01391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F4E5977-D272-4E11-A03A-860268F25C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3CE3386-CA59-42A7-AEDE-0B76443C8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8" name="Picture 7" descr="A close up of a sign&#10;&#10;Description automatically generated">
            <a:extLst>
              <a:ext uri="{FF2B5EF4-FFF2-40B4-BE49-F238E27FC236}">
                <a16:creationId xmlns:a16="http://schemas.microsoft.com/office/drawing/2014/main" id="{608D5990-53AF-354E-52EC-C9A8DC4087E1}"/>
              </a:ext>
            </a:extLst>
          </p:cNvPr>
          <p:cNvPicPr>
            <a:picLocks noChangeAspect="1"/>
          </p:cNvPicPr>
          <p:nvPr/>
        </p:nvPicPr>
        <p:blipFill>
          <a:blip r:embed="rId3"/>
          <a:stretch>
            <a:fillRect/>
          </a:stretch>
        </p:blipFill>
        <p:spPr>
          <a:xfrm>
            <a:off x="804671" y="1748321"/>
            <a:ext cx="2766943" cy="1291240"/>
          </a:xfrm>
          <a:prstGeom prst="rect">
            <a:avLst/>
          </a:prstGeom>
        </p:spPr>
      </p:pic>
      <p:pic>
        <p:nvPicPr>
          <p:cNvPr id="9" name="Picture 8" descr="A picture containing drawing&#10;&#10;Description automatically generated">
            <a:extLst>
              <a:ext uri="{FF2B5EF4-FFF2-40B4-BE49-F238E27FC236}">
                <a16:creationId xmlns:a16="http://schemas.microsoft.com/office/drawing/2014/main" id="{5D475529-D5E5-948F-6E3D-5166C44998FE}"/>
              </a:ext>
            </a:extLst>
          </p:cNvPr>
          <p:cNvPicPr>
            <a:picLocks noChangeAspect="1"/>
          </p:cNvPicPr>
          <p:nvPr/>
        </p:nvPicPr>
        <p:blipFill>
          <a:blip r:embed="rId4"/>
          <a:stretch>
            <a:fillRect/>
          </a:stretch>
        </p:blipFill>
        <p:spPr>
          <a:xfrm>
            <a:off x="3613252" y="798675"/>
            <a:ext cx="2766526" cy="2240885"/>
          </a:xfrm>
          <a:prstGeom prst="rect">
            <a:avLst/>
          </a:prstGeom>
        </p:spPr>
      </p:pic>
      <p:pic>
        <p:nvPicPr>
          <p:cNvPr id="7" name="Picture 6" descr="A picture containing drawing&#10;&#10;Description automatically generated">
            <a:extLst>
              <a:ext uri="{FF2B5EF4-FFF2-40B4-BE49-F238E27FC236}">
                <a16:creationId xmlns:a16="http://schemas.microsoft.com/office/drawing/2014/main" id="{F684A75D-E2DE-294E-2EB6-989B7548BB33}"/>
              </a:ext>
            </a:extLst>
          </p:cNvPr>
          <p:cNvPicPr>
            <a:picLocks noChangeAspect="1"/>
          </p:cNvPicPr>
          <p:nvPr/>
        </p:nvPicPr>
        <p:blipFill>
          <a:blip r:embed="rId5"/>
          <a:stretch>
            <a:fillRect/>
          </a:stretch>
        </p:blipFill>
        <p:spPr>
          <a:xfrm>
            <a:off x="1287627" y="3352800"/>
            <a:ext cx="4776163" cy="1647775"/>
          </a:xfrm>
          <a:prstGeom prst="rect">
            <a:avLst/>
          </a:prstGeom>
        </p:spPr>
      </p:pic>
      <p:sp>
        <p:nvSpPr>
          <p:cNvPr id="6" name="Title 4">
            <a:extLst>
              <a:ext uri="{FF2B5EF4-FFF2-40B4-BE49-F238E27FC236}">
                <a16:creationId xmlns:a16="http://schemas.microsoft.com/office/drawing/2014/main" id="{065624AB-9B30-806E-C119-1964C24DEEAF}"/>
              </a:ext>
            </a:extLst>
          </p:cNvPr>
          <p:cNvSpPr txBox="1">
            <a:spLocks/>
          </p:cNvSpPr>
          <p:nvPr/>
        </p:nvSpPr>
        <p:spPr bwMode="auto">
          <a:xfrm>
            <a:off x="7696200" y="1894978"/>
            <a:ext cx="4333468" cy="363928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ctr" anchorCtr="0" compatLnSpc="1">
            <a:prstTxWarp prst="textNoShape">
              <a:avLst/>
            </a:prstTxWarp>
            <a:normAutofit/>
          </a:bodyPr>
          <a:lstStyle>
            <a:lvl1pPr algn="ctr"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2pPr>
            <a:lvl3pPr algn="ctr"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3pPr>
            <a:lvl4pPr algn="ctr"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4pPr>
            <a:lvl5pPr algn="ctr"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eaLnBrk="1" hangingPunct="1">
              <a:lnSpc>
                <a:spcPct val="90000"/>
              </a:lnSpc>
              <a:spcAft>
                <a:spcPts val="600"/>
              </a:spcAft>
            </a:pPr>
            <a:r>
              <a:rPr lang="en-US" sz="3600" dirty="0">
                <a:solidFill>
                  <a:schemeClr val="tx2"/>
                </a:solidFill>
                <a:latin typeface="+mn-lt"/>
                <a:ea typeface="+mn-ea"/>
                <a:cs typeface="+mn-cs"/>
              </a:rPr>
              <a:t>Open-source environment and tools for statistical computing and graphics</a:t>
            </a:r>
            <a:br>
              <a:rPr lang="en-US" sz="3600" dirty="0">
                <a:solidFill>
                  <a:schemeClr val="tx2"/>
                </a:solidFill>
                <a:latin typeface="+mn-lt"/>
                <a:ea typeface="+mn-ea"/>
                <a:cs typeface="+mn-cs"/>
              </a:rPr>
            </a:br>
            <a:endParaRPr lang="en-US" sz="3600" dirty="0">
              <a:solidFill>
                <a:schemeClr val="tx2"/>
              </a:solidFill>
              <a:latin typeface="+mn-lt"/>
              <a:ea typeface="+mn-ea"/>
              <a:cs typeface="+mn-cs"/>
            </a:endParaRPr>
          </a:p>
        </p:txBody>
      </p:sp>
      <p:sp>
        <p:nvSpPr>
          <p:cNvPr id="4" name="Footer Placeholder 3">
            <a:extLst>
              <a:ext uri="{FF2B5EF4-FFF2-40B4-BE49-F238E27FC236}">
                <a16:creationId xmlns:a16="http://schemas.microsoft.com/office/drawing/2014/main" id="{5F8F2835-677D-3C7B-9D54-950C0D1A8229}"/>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defRPr/>
            </a:pPr>
            <a:endParaRPr lang="en-US" sz="1200" kern="1200">
              <a:solidFill>
                <a:schemeClr val="tx1">
                  <a:tint val="75000"/>
                </a:schemeClr>
              </a:solidFill>
              <a:latin typeface="+mn-lt"/>
              <a:ea typeface="+mn-ea"/>
              <a:cs typeface="+mn-cs"/>
            </a:endParaRPr>
          </a:p>
        </p:txBody>
      </p:sp>
      <p:sp>
        <p:nvSpPr>
          <p:cNvPr id="5" name="Slide Number Placeholder 4">
            <a:extLst>
              <a:ext uri="{FF2B5EF4-FFF2-40B4-BE49-F238E27FC236}">
                <a16:creationId xmlns:a16="http://schemas.microsoft.com/office/drawing/2014/main" id="{818C0893-42F5-0F92-2FCF-682D81527E54}"/>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09B82BB3-367D-3E49-A00D-E346D4E21EB9}" type="slidenum">
              <a:rPr lang="en-US" altLang="en-US" smtClean="0">
                <a:solidFill>
                  <a:schemeClr val="tx1">
                    <a:tint val="75000"/>
                  </a:schemeClr>
                </a:solidFill>
                <a:latin typeface="+mn-lt"/>
                <a:ea typeface="+mn-ea"/>
              </a:rPr>
              <a:pPr>
                <a:spcAft>
                  <a:spcPts val="600"/>
                </a:spcAft>
                <a:defRPr/>
              </a:pPr>
              <a:t>3</a:t>
            </a:fld>
            <a:endParaRPr lang="en-US" altLang="en-US">
              <a:solidFill>
                <a:schemeClr val="tx1">
                  <a:tint val="75000"/>
                </a:schemeClr>
              </a:solidFill>
              <a:latin typeface="+mn-lt"/>
              <a:ea typeface="+mn-ea"/>
            </a:endParaRPr>
          </a:p>
        </p:txBody>
      </p:sp>
      <p:grpSp>
        <p:nvGrpSpPr>
          <p:cNvPr id="25" name="Group 24">
            <a:extLst>
              <a:ext uri="{FF2B5EF4-FFF2-40B4-BE49-F238E27FC236}">
                <a16:creationId xmlns:a16="http://schemas.microsoft.com/office/drawing/2014/main" id="{586C32D2-94E1-4C20-9977-69D4D1F681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847360" y="4513360"/>
            <a:ext cx="2514948" cy="2174333"/>
            <a:chOff x="-305" y="-4155"/>
            <a:chExt cx="2514948" cy="2174333"/>
          </a:xfrm>
        </p:grpSpPr>
        <p:sp>
          <p:nvSpPr>
            <p:cNvPr id="26" name="Freeform: Shape 25">
              <a:extLst>
                <a:ext uri="{FF2B5EF4-FFF2-40B4-BE49-F238E27FC236}">
                  <a16:creationId xmlns:a16="http://schemas.microsoft.com/office/drawing/2014/main" id="{4EF1C65E-19AB-4AB5-AFAE-5BE4430B1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679DC337-4663-43ED-94FF-578FCC16AC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49D6286C-2480-4CBF-8601-1AEE4541BB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9" name="Freeform: Shape 28">
              <a:extLst>
                <a:ext uri="{FF2B5EF4-FFF2-40B4-BE49-F238E27FC236}">
                  <a16:creationId xmlns:a16="http://schemas.microsoft.com/office/drawing/2014/main" id="{216D01AE-CAAB-4E02-BFFF-211B8032CC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279715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D3C3CE-708B-C622-A2FD-22029AC83744}"/>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E802244-835D-AE72-6B72-CB6BFF0DA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F2B28FD-5265-0BCF-6F1D-BA3209B92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6" name="Title 4">
            <a:extLst>
              <a:ext uri="{FF2B5EF4-FFF2-40B4-BE49-F238E27FC236}">
                <a16:creationId xmlns:a16="http://schemas.microsoft.com/office/drawing/2014/main" id="{6C267419-B9E2-C365-7CC6-423A351C49CD}"/>
              </a:ext>
            </a:extLst>
          </p:cNvPr>
          <p:cNvSpPr txBox="1">
            <a:spLocks/>
          </p:cNvSpPr>
          <p:nvPr/>
        </p:nvSpPr>
        <p:spPr bwMode="auto">
          <a:xfrm>
            <a:off x="7470858" y="1894978"/>
            <a:ext cx="4558810" cy="363928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ctr" anchorCtr="0" compatLnSpc="1">
            <a:prstTxWarp prst="textNoShape">
              <a:avLst/>
            </a:prstTxWarp>
            <a:normAutofit/>
          </a:bodyPr>
          <a:lstStyle>
            <a:lvl1pPr algn="ctr"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2pPr>
            <a:lvl3pPr algn="ctr"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3pPr>
            <a:lvl4pPr algn="ctr"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4pPr>
            <a:lvl5pPr algn="ctr"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r">
              <a:lnSpc>
                <a:spcPct val="90000"/>
              </a:lnSpc>
              <a:spcAft>
                <a:spcPts val="600"/>
              </a:spcAft>
            </a:pPr>
            <a:r>
              <a:rPr lang="en-US" sz="3600" dirty="0">
                <a:solidFill>
                  <a:srgbClr val="000000"/>
                </a:solidFill>
              </a:rPr>
              <a:t>Open-source Software Development Platform</a:t>
            </a:r>
          </a:p>
        </p:txBody>
      </p:sp>
      <p:sp>
        <p:nvSpPr>
          <p:cNvPr id="5" name="Slide Number Placeholder 4">
            <a:extLst>
              <a:ext uri="{FF2B5EF4-FFF2-40B4-BE49-F238E27FC236}">
                <a16:creationId xmlns:a16="http://schemas.microsoft.com/office/drawing/2014/main" id="{69A91645-7BD6-0F72-EE1E-FC0C8CC00873}"/>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09B82BB3-367D-3E49-A00D-E346D4E21EB9}" type="slidenum">
              <a:rPr lang="en-US" altLang="en-US" smtClean="0">
                <a:solidFill>
                  <a:schemeClr val="tx1">
                    <a:tint val="75000"/>
                  </a:schemeClr>
                </a:solidFill>
                <a:latin typeface="+mn-lt"/>
                <a:ea typeface="+mn-ea"/>
              </a:rPr>
              <a:pPr>
                <a:spcAft>
                  <a:spcPts val="600"/>
                </a:spcAft>
                <a:defRPr/>
              </a:pPr>
              <a:t>4</a:t>
            </a:fld>
            <a:endParaRPr lang="en-US" altLang="en-US">
              <a:solidFill>
                <a:schemeClr val="tx1">
                  <a:tint val="75000"/>
                </a:schemeClr>
              </a:solidFill>
              <a:latin typeface="+mn-lt"/>
              <a:ea typeface="+mn-ea"/>
            </a:endParaRPr>
          </a:p>
        </p:txBody>
      </p:sp>
      <p:grpSp>
        <p:nvGrpSpPr>
          <p:cNvPr id="25" name="Group 24">
            <a:extLst>
              <a:ext uri="{FF2B5EF4-FFF2-40B4-BE49-F238E27FC236}">
                <a16:creationId xmlns:a16="http://schemas.microsoft.com/office/drawing/2014/main" id="{C3E55FE4-E8B5-0EA3-3A71-9EEE58D7C95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847360" y="4513360"/>
            <a:ext cx="2514948" cy="2174333"/>
            <a:chOff x="-305" y="-4155"/>
            <a:chExt cx="2514948" cy="2174333"/>
          </a:xfrm>
        </p:grpSpPr>
        <p:sp>
          <p:nvSpPr>
            <p:cNvPr id="26" name="Freeform: Shape 25">
              <a:extLst>
                <a:ext uri="{FF2B5EF4-FFF2-40B4-BE49-F238E27FC236}">
                  <a16:creationId xmlns:a16="http://schemas.microsoft.com/office/drawing/2014/main" id="{100BC7B0-81F0-2DDE-511C-22B075EA09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1BDA349E-CD9A-AFB3-B87C-E29E86841C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82D60ECB-92D3-0328-EE53-F0B03F9E08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9" name="Freeform: Shape 28">
              <a:extLst>
                <a:ext uri="{FF2B5EF4-FFF2-40B4-BE49-F238E27FC236}">
                  <a16:creationId xmlns:a16="http://schemas.microsoft.com/office/drawing/2014/main" id="{365D4016-63B5-09AB-791C-7AEAB6585F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 name="Picture 1" descr="A picture containing clock&#10;&#10;Description automatically generated">
            <a:extLst>
              <a:ext uri="{FF2B5EF4-FFF2-40B4-BE49-F238E27FC236}">
                <a16:creationId xmlns:a16="http://schemas.microsoft.com/office/drawing/2014/main" id="{C8D12C3D-8623-51F5-FFE3-FD5E5A2BB904}"/>
              </a:ext>
            </a:extLst>
          </p:cNvPr>
          <p:cNvPicPr>
            <a:picLocks noChangeAspect="1"/>
          </p:cNvPicPr>
          <p:nvPr/>
        </p:nvPicPr>
        <p:blipFill>
          <a:blip r:embed="rId3"/>
          <a:stretch>
            <a:fillRect/>
          </a:stretch>
        </p:blipFill>
        <p:spPr>
          <a:xfrm>
            <a:off x="3935198" y="1651533"/>
            <a:ext cx="4171349" cy="802983"/>
          </a:xfrm>
          <a:prstGeom prst="rect">
            <a:avLst/>
          </a:prstGeom>
        </p:spPr>
      </p:pic>
      <p:pic>
        <p:nvPicPr>
          <p:cNvPr id="3" name="Picture 2" descr="A close up of a logo&#10;&#10;Description automatically generated">
            <a:extLst>
              <a:ext uri="{FF2B5EF4-FFF2-40B4-BE49-F238E27FC236}">
                <a16:creationId xmlns:a16="http://schemas.microsoft.com/office/drawing/2014/main" id="{465BFDA7-6E56-C5F8-8F58-2207AE941720}"/>
              </a:ext>
            </a:extLst>
          </p:cNvPr>
          <p:cNvPicPr>
            <a:picLocks noChangeAspect="1"/>
          </p:cNvPicPr>
          <p:nvPr/>
        </p:nvPicPr>
        <p:blipFill>
          <a:blip r:embed="rId4"/>
          <a:stretch>
            <a:fillRect/>
          </a:stretch>
        </p:blipFill>
        <p:spPr>
          <a:xfrm>
            <a:off x="1197144" y="3276600"/>
            <a:ext cx="3603456" cy="3234100"/>
          </a:xfrm>
          <a:prstGeom prst="rect">
            <a:avLst/>
          </a:prstGeom>
        </p:spPr>
      </p:pic>
      <p:sp>
        <p:nvSpPr>
          <p:cNvPr id="10" name="TextBox 9">
            <a:extLst>
              <a:ext uri="{FF2B5EF4-FFF2-40B4-BE49-F238E27FC236}">
                <a16:creationId xmlns:a16="http://schemas.microsoft.com/office/drawing/2014/main" id="{53E37052-0C4F-8E50-95FF-86C97C5AB346}"/>
              </a:ext>
            </a:extLst>
          </p:cNvPr>
          <p:cNvSpPr txBox="1"/>
          <p:nvPr/>
        </p:nvSpPr>
        <p:spPr>
          <a:xfrm>
            <a:off x="1212384" y="2850155"/>
            <a:ext cx="1215397" cy="523220"/>
          </a:xfrm>
          <a:prstGeom prst="rect">
            <a:avLst/>
          </a:prstGeom>
          <a:noFill/>
        </p:spPr>
        <p:txBody>
          <a:bodyPr wrap="none" rtlCol="0">
            <a:spAutoFit/>
          </a:bodyPr>
          <a:lstStyle/>
          <a:p>
            <a:r>
              <a:rPr lang="en-US" sz="2800" dirty="0"/>
              <a:t>GitHub</a:t>
            </a:r>
          </a:p>
        </p:txBody>
      </p:sp>
      <p:sp>
        <p:nvSpPr>
          <p:cNvPr id="11" name="TextBox 10">
            <a:extLst>
              <a:ext uri="{FF2B5EF4-FFF2-40B4-BE49-F238E27FC236}">
                <a16:creationId xmlns:a16="http://schemas.microsoft.com/office/drawing/2014/main" id="{AA4430B7-E058-B718-A72E-2C7E3D256FC7}"/>
              </a:ext>
            </a:extLst>
          </p:cNvPr>
          <p:cNvSpPr txBox="1"/>
          <p:nvPr/>
        </p:nvSpPr>
        <p:spPr>
          <a:xfrm>
            <a:off x="4063098" y="1085195"/>
            <a:ext cx="3720827" cy="523220"/>
          </a:xfrm>
          <a:prstGeom prst="rect">
            <a:avLst/>
          </a:prstGeom>
          <a:noFill/>
        </p:spPr>
        <p:txBody>
          <a:bodyPr wrap="none" rtlCol="0">
            <a:spAutoFit/>
          </a:bodyPr>
          <a:lstStyle/>
          <a:p>
            <a:r>
              <a:rPr lang="en-US" sz="2800" dirty="0"/>
              <a:t>Software version control</a:t>
            </a:r>
          </a:p>
        </p:txBody>
      </p:sp>
    </p:spTree>
    <p:extLst>
      <p:ext uri="{BB962C8B-B14F-4D97-AF65-F5344CB8AC3E}">
        <p14:creationId xmlns:p14="http://schemas.microsoft.com/office/powerpoint/2010/main" val="1198175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A0C292B0-C1BC-7244-A1EC-A6C641F2E630}"/>
              </a:ext>
            </a:extLst>
          </p:cNvPr>
          <p:cNvSpPr>
            <a:spLocks noGrp="1"/>
          </p:cNvSpPr>
          <p:nvPr>
            <p:ph type="title"/>
          </p:nvPr>
        </p:nvSpPr>
        <p:spPr/>
        <p:txBody>
          <a:bodyPr/>
          <a:lstStyle/>
          <a:p>
            <a:pPr eaLnBrk="1" hangingPunct="1"/>
            <a:r>
              <a:rPr lang="en-US" altLang="en-US" b="1" dirty="0">
                <a:ea typeface="ＭＳ Ｐゴシック" panose="020B0600070205080204" pitchFamily="34" charset="-128"/>
              </a:rPr>
              <a:t>RStudio</a:t>
            </a:r>
          </a:p>
        </p:txBody>
      </p:sp>
      <p:sp>
        <p:nvSpPr>
          <p:cNvPr id="16386" name="Slide Number Placeholder 3">
            <a:extLst>
              <a:ext uri="{FF2B5EF4-FFF2-40B4-BE49-F238E27FC236}">
                <a16:creationId xmlns:a16="http://schemas.microsoft.com/office/drawing/2014/main" id="{7DF5B5C2-B9A3-8F41-98AE-0DA774C2970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1A33B306-B4A8-A149-9201-067AB30785A5}" type="slidenum">
              <a:rPr lang="en-US" altLang="en-US" sz="1200">
                <a:solidFill>
                  <a:srgbClr val="898989"/>
                </a:solidFill>
              </a:rPr>
              <a:pPr>
                <a:spcBef>
                  <a:spcPct val="0"/>
                </a:spcBef>
                <a:buFontTx/>
                <a:buNone/>
              </a:pPr>
              <a:t>5</a:t>
            </a:fld>
            <a:endParaRPr lang="en-US" altLang="en-US" sz="1200">
              <a:solidFill>
                <a:srgbClr val="898989"/>
              </a:solidFill>
            </a:endParaRPr>
          </a:p>
        </p:txBody>
      </p:sp>
      <p:pic>
        <p:nvPicPr>
          <p:cNvPr id="16387" name="Picture 8">
            <a:extLst>
              <a:ext uri="{FF2B5EF4-FFF2-40B4-BE49-F238E27FC236}">
                <a16:creationId xmlns:a16="http://schemas.microsoft.com/office/drawing/2014/main" id="{EF47A2B0-FB3C-644A-A6F9-CB4FE26292F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295400"/>
            <a:ext cx="70866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43277BBB-1139-A245-822E-D35106282F10}"/>
              </a:ext>
            </a:extLst>
          </p:cNvPr>
          <p:cNvSpPr txBox="1">
            <a:spLocks noChangeArrowheads="1"/>
          </p:cNvSpPr>
          <p:nvPr/>
        </p:nvSpPr>
        <p:spPr bwMode="auto">
          <a:xfrm>
            <a:off x="3429001" y="5029201"/>
            <a:ext cx="2301271" cy="646331"/>
          </a:xfrm>
          <a:prstGeom prst="rect">
            <a:avLst/>
          </a:prstGeom>
          <a:gradFill rotWithShape="1">
            <a:gsLst>
              <a:gs pos="0">
                <a:srgbClr val="F5FFE6"/>
              </a:gs>
              <a:gs pos="64999">
                <a:srgbClr val="E4FDC2"/>
              </a:gs>
              <a:gs pos="100000">
                <a:srgbClr val="DAFDA7"/>
              </a:gs>
            </a:gsLst>
            <a:lin ang="5400000" scaled="1"/>
          </a:gradFill>
          <a:ln w="9525">
            <a:solidFill>
              <a:srgbClr val="98B954"/>
            </a:solidFill>
            <a:miter lim="800000"/>
            <a:headEnd/>
            <a:tailEnd/>
          </a:ln>
          <a:effectLst>
            <a:outerShdw dist="20000" dir="5400000" rotWithShape="0">
              <a:srgbClr val="808080">
                <a:alpha val="37999"/>
              </a:srgbClr>
            </a:outerShdw>
          </a:effectLst>
        </p:spPr>
        <p:txBody>
          <a:bodyPr wrap="none">
            <a:spAutoFit/>
          </a:bodyPr>
          <a:lstStyle/>
          <a:p>
            <a:pPr eaLnBrk="1" hangingPunct="1">
              <a:defRPr/>
            </a:pPr>
            <a:r>
              <a:rPr lang="en-US" dirty="0">
                <a:solidFill>
                  <a:schemeClr val="dk1"/>
                </a:solidFill>
                <a:latin typeface="+mn-lt"/>
                <a:ea typeface="+mn-ea"/>
              </a:rPr>
              <a:t>Console Window </a:t>
            </a:r>
          </a:p>
          <a:p>
            <a:pPr eaLnBrk="1" hangingPunct="1">
              <a:defRPr/>
            </a:pPr>
            <a:r>
              <a:rPr lang="en-US" dirty="0">
                <a:solidFill>
                  <a:schemeClr val="dk1"/>
                </a:solidFill>
                <a:latin typeface="+mn-lt"/>
                <a:ea typeface="+mn-ea"/>
              </a:rPr>
              <a:t>(where code executes)</a:t>
            </a:r>
          </a:p>
        </p:txBody>
      </p:sp>
      <p:sp>
        <p:nvSpPr>
          <p:cNvPr id="11" name="TextBox 10">
            <a:extLst>
              <a:ext uri="{FF2B5EF4-FFF2-40B4-BE49-F238E27FC236}">
                <a16:creationId xmlns:a16="http://schemas.microsoft.com/office/drawing/2014/main" id="{9A9A46F8-739F-D246-A675-2CD171EF84B7}"/>
              </a:ext>
            </a:extLst>
          </p:cNvPr>
          <p:cNvSpPr txBox="1">
            <a:spLocks noChangeArrowheads="1"/>
          </p:cNvSpPr>
          <p:nvPr/>
        </p:nvSpPr>
        <p:spPr bwMode="auto">
          <a:xfrm>
            <a:off x="7543801" y="2286000"/>
            <a:ext cx="1979613" cy="369888"/>
          </a:xfrm>
          <a:prstGeom prst="rect">
            <a:avLst/>
          </a:prstGeom>
          <a:gradFill rotWithShape="1">
            <a:gsLst>
              <a:gs pos="0">
                <a:srgbClr val="F5FFE6"/>
              </a:gs>
              <a:gs pos="64999">
                <a:srgbClr val="E4FDC2"/>
              </a:gs>
              <a:gs pos="100000">
                <a:srgbClr val="DAFDA7"/>
              </a:gs>
            </a:gsLst>
            <a:lin ang="5400000" scaled="1"/>
          </a:gradFill>
          <a:ln w="9525">
            <a:solidFill>
              <a:srgbClr val="98B954"/>
            </a:solidFill>
            <a:miter lim="800000"/>
            <a:headEnd/>
            <a:tailEnd/>
          </a:ln>
          <a:effectLst>
            <a:outerShdw dist="20000" dir="5400000" rotWithShape="0">
              <a:srgbClr val="808080">
                <a:alpha val="37999"/>
              </a:srgbClr>
            </a:outerShdw>
          </a:effectLst>
        </p:spPr>
        <p:txBody>
          <a:bodyPr wrap="none">
            <a:spAutoFit/>
          </a:bodyPr>
          <a:lstStyle/>
          <a:p>
            <a:pPr eaLnBrk="1" hangingPunct="1">
              <a:defRPr/>
            </a:pPr>
            <a:r>
              <a:rPr lang="en-US" dirty="0">
                <a:solidFill>
                  <a:schemeClr val="dk1"/>
                </a:solidFill>
                <a:latin typeface="+mn-lt"/>
                <a:ea typeface="+mn-ea"/>
              </a:rPr>
              <a:t>Workspace/History</a:t>
            </a:r>
          </a:p>
        </p:txBody>
      </p:sp>
      <p:sp>
        <p:nvSpPr>
          <p:cNvPr id="12" name="TextBox 11">
            <a:extLst>
              <a:ext uri="{FF2B5EF4-FFF2-40B4-BE49-F238E27FC236}">
                <a16:creationId xmlns:a16="http://schemas.microsoft.com/office/drawing/2014/main" id="{CCEC5D63-EDBB-5844-9E0F-9B2FDE5BF228}"/>
              </a:ext>
            </a:extLst>
          </p:cNvPr>
          <p:cNvSpPr txBox="1">
            <a:spLocks noChangeArrowheads="1"/>
          </p:cNvSpPr>
          <p:nvPr/>
        </p:nvSpPr>
        <p:spPr bwMode="auto">
          <a:xfrm>
            <a:off x="7743826" y="5145088"/>
            <a:ext cx="1552575" cy="646112"/>
          </a:xfrm>
          <a:prstGeom prst="rect">
            <a:avLst/>
          </a:prstGeom>
          <a:gradFill rotWithShape="1">
            <a:gsLst>
              <a:gs pos="0">
                <a:srgbClr val="F5FFE6"/>
              </a:gs>
              <a:gs pos="64999">
                <a:srgbClr val="E4FDC2"/>
              </a:gs>
              <a:gs pos="100000">
                <a:srgbClr val="DAFDA7"/>
              </a:gs>
            </a:gsLst>
            <a:lin ang="5400000" scaled="1"/>
          </a:gradFill>
          <a:ln w="9525">
            <a:solidFill>
              <a:srgbClr val="98B954"/>
            </a:solidFill>
            <a:miter lim="800000"/>
            <a:headEnd/>
            <a:tailEnd/>
          </a:ln>
          <a:effectLst>
            <a:outerShdw dist="20000" dir="5400000" rotWithShape="0">
              <a:srgbClr val="808080">
                <a:alpha val="37999"/>
              </a:srgbClr>
            </a:outerShdw>
          </a:effectLst>
        </p:spPr>
        <p:txBody>
          <a:bodyPr wrap="none">
            <a:spAutoFit/>
          </a:bodyPr>
          <a:lstStyle/>
          <a:p>
            <a:pPr eaLnBrk="1" hangingPunct="1">
              <a:defRPr/>
            </a:pPr>
            <a:r>
              <a:rPr lang="en-US" dirty="0">
                <a:solidFill>
                  <a:schemeClr val="dk1"/>
                </a:solidFill>
                <a:latin typeface="+mn-lt"/>
                <a:ea typeface="+mn-ea"/>
              </a:rPr>
              <a:t>Files/Plots/</a:t>
            </a:r>
          </a:p>
          <a:p>
            <a:pPr eaLnBrk="1" hangingPunct="1">
              <a:defRPr/>
            </a:pPr>
            <a:r>
              <a:rPr lang="en-US" dirty="0">
                <a:solidFill>
                  <a:schemeClr val="dk1"/>
                </a:solidFill>
                <a:latin typeface="+mn-lt"/>
                <a:ea typeface="+mn-ea"/>
              </a:rPr>
              <a:t>Packages/Help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09BB1181-7EAE-AF4F-8A5C-E1C42EF4A5D7}"/>
              </a:ext>
            </a:extLst>
          </p:cNvPr>
          <p:cNvSpPr>
            <a:spLocks noGrp="1"/>
          </p:cNvSpPr>
          <p:nvPr>
            <p:ph type="title"/>
          </p:nvPr>
        </p:nvSpPr>
        <p:spPr/>
        <p:txBody>
          <a:bodyPr/>
          <a:lstStyle/>
          <a:p>
            <a:r>
              <a:rPr lang="en-US" altLang="en-US" b="1">
                <a:ea typeface="ＭＳ Ｐゴシック" panose="020B0600070205080204" pitchFamily="34" charset="-128"/>
              </a:rPr>
              <a:t>Using R Markdown</a:t>
            </a:r>
          </a:p>
        </p:txBody>
      </p:sp>
      <p:sp>
        <p:nvSpPr>
          <p:cNvPr id="4" name="Footer Placeholder 3">
            <a:extLst>
              <a:ext uri="{FF2B5EF4-FFF2-40B4-BE49-F238E27FC236}">
                <a16:creationId xmlns:a16="http://schemas.microsoft.com/office/drawing/2014/main" id="{BCD18882-79EC-464E-B51E-F732DF0CA91D}"/>
              </a:ext>
            </a:extLst>
          </p:cNvPr>
          <p:cNvSpPr>
            <a:spLocks noGrp="1"/>
          </p:cNvSpPr>
          <p:nvPr>
            <p:ph type="ftr" sz="quarter" idx="11"/>
          </p:nvPr>
        </p:nvSpPr>
        <p:spPr/>
        <p:txBody>
          <a:bodyPr/>
          <a:lstStyle/>
          <a:p>
            <a:pPr>
              <a:defRPr/>
            </a:pPr>
            <a:r>
              <a:rPr lang="en-US" dirty="0"/>
              <a:t>Intro to R</a:t>
            </a:r>
          </a:p>
        </p:txBody>
      </p:sp>
      <p:sp>
        <p:nvSpPr>
          <p:cNvPr id="22531" name="Slide Number Placeholder 4">
            <a:extLst>
              <a:ext uri="{FF2B5EF4-FFF2-40B4-BE49-F238E27FC236}">
                <a16:creationId xmlns:a16="http://schemas.microsoft.com/office/drawing/2014/main" id="{906BC168-5E44-094F-9637-7F81DA958C5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174D1182-6B84-4E4B-B621-E01160A94C26}" type="slidenum">
              <a:rPr lang="en-US" altLang="en-US" sz="1200">
                <a:solidFill>
                  <a:srgbClr val="898989"/>
                </a:solidFill>
              </a:rPr>
              <a:pPr>
                <a:spcBef>
                  <a:spcPct val="0"/>
                </a:spcBef>
                <a:buFontTx/>
                <a:buNone/>
              </a:pPr>
              <a:t>6</a:t>
            </a:fld>
            <a:endParaRPr lang="en-US" altLang="en-US" sz="1200">
              <a:solidFill>
                <a:srgbClr val="898989"/>
              </a:solidFill>
            </a:endParaRPr>
          </a:p>
        </p:txBody>
      </p:sp>
      <p:pic>
        <p:nvPicPr>
          <p:cNvPr id="22532" name="Picture 8" descr="Screen Shot 2018-05-04 at 1.43.23 PM.png">
            <a:extLst>
              <a:ext uri="{FF2B5EF4-FFF2-40B4-BE49-F238E27FC236}">
                <a16:creationId xmlns:a16="http://schemas.microsoft.com/office/drawing/2014/main" id="{07CCE3CA-A04A-744E-AF35-7F81C531D34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295400"/>
            <a:ext cx="55626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10" descr="Screen Shot 2018-05-04 at 1.56.31 PM.png">
            <a:extLst>
              <a:ext uri="{FF2B5EF4-FFF2-40B4-BE49-F238E27FC236}">
                <a16:creationId xmlns:a16="http://schemas.microsoft.com/office/drawing/2014/main" id="{889705B4-87F9-A145-A3E7-8B63FF85A81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2895600"/>
            <a:ext cx="4135438" cy="328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Picture 5" descr="A screenshot of a social media post&#10;&#10;Description automatically generated">
            <a:extLst>
              <a:ext uri="{FF2B5EF4-FFF2-40B4-BE49-F238E27FC236}">
                <a16:creationId xmlns:a16="http://schemas.microsoft.com/office/drawing/2014/main" id="{A598BC01-669E-394E-96CA-D791D00719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339850"/>
            <a:ext cx="8077200" cy="504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4" name="Title 1">
            <a:extLst>
              <a:ext uri="{FF2B5EF4-FFF2-40B4-BE49-F238E27FC236}">
                <a16:creationId xmlns:a16="http://schemas.microsoft.com/office/drawing/2014/main" id="{187147B4-7DAC-AC40-B7D7-375EEC45AA08}"/>
              </a:ext>
            </a:extLst>
          </p:cNvPr>
          <p:cNvSpPr>
            <a:spLocks noGrp="1"/>
          </p:cNvSpPr>
          <p:nvPr>
            <p:ph type="title"/>
          </p:nvPr>
        </p:nvSpPr>
        <p:spPr/>
        <p:txBody>
          <a:bodyPr/>
          <a:lstStyle/>
          <a:p>
            <a:r>
              <a:rPr lang="en-US" altLang="en-US" b="1">
                <a:ea typeface="ＭＳ Ｐゴシック" panose="020B0600070205080204" pitchFamily="34" charset="-128"/>
              </a:rPr>
              <a:t>Executing R Markdown</a:t>
            </a:r>
            <a:endParaRPr lang="en-US" altLang="en-US" sz="4000" b="1">
              <a:ea typeface="ＭＳ Ｐゴシック" panose="020B0600070205080204" pitchFamily="34" charset="-128"/>
            </a:endParaRPr>
          </a:p>
        </p:txBody>
      </p:sp>
      <p:sp>
        <p:nvSpPr>
          <p:cNvPr id="23555" name="Slide Number Placeholder 3">
            <a:extLst>
              <a:ext uri="{FF2B5EF4-FFF2-40B4-BE49-F238E27FC236}">
                <a16:creationId xmlns:a16="http://schemas.microsoft.com/office/drawing/2014/main" id="{7E8BD25D-C454-CC4A-9EB3-37B5A33FD74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8038C75C-5752-0647-B0BD-F0BA8B9750A6}" type="slidenum">
              <a:rPr lang="en-US" altLang="en-US" sz="1200">
                <a:solidFill>
                  <a:srgbClr val="898989"/>
                </a:solidFill>
              </a:rPr>
              <a:pPr>
                <a:spcBef>
                  <a:spcPct val="0"/>
                </a:spcBef>
                <a:buFontTx/>
                <a:buNone/>
              </a:pPr>
              <a:t>7</a:t>
            </a:fld>
            <a:endParaRPr lang="en-US" altLang="en-US" sz="1200">
              <a:solidFill>
                <a:srgbClr val="898989"/>
              </a:solidFill>
            </a:endParaRPr>
          </a:p>
        </p:txBody>
      </p:sp>
      <p:sp>
        <p:nvSpPr>
          <p:cNvPr id="26632" name="TextBox 9">
            <a:extLst>
              <a:ext uri="{FF2B5EF4-FFF2-40B4-BE49-F238E27FC236}">
                <a16:creationId xmlns:a16="http://schemas.microsoft.com/office/drawing/2014/main" id="{D1A4CB1A-8397-D144-88D7-4334CF4B3223}"/>
              </a:ext>
            </a:extLst>
          </p:cNvPr>
          <p:cNvSpPr txBox="1">
            <a:spLocks noChangeArrowheads="1"/>
          </p:cNvSpPr>
          <p:nvPr/>
        </p:nvSpPr>
        <p:spPr bwMode="auto">
          <a:xfrm>
            <a:off x="5345113" y="2133601"/>
            <a:ext cx="914400" cy="830263"/>
          </a:xfrm>
          <a:prstGeom prst="rect">
            <a:avLst/>
          </a:prstGeom>
          <a:noFill/>
          <a:ln w="9525">
            <a:solidFill>
              <a:schemeClr val="accent3">
                <a:lumMod val="50000"/>
              </a:schemeClr>
            </a:solidFill>
            <a:miter lim="800000"/>
            <a:headEnd/>
            <a:tailEnd/>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a:defRPr sz="2400">
                <a:solidFill>
                  <a:schemeClr val="tx1"/>
                </a:solidFill>
                <a:latin typeface="Arial" panose="020B0604020202020204" pitchFamily="34" charset="0"/>
                <a:ea typeface="ＭＳ Ｐゴシック" panose="020B0600070205080204" pitchFamily="34" charset="-128"/>
              </a:defRPr>
            </a:lvl3pPr>
            <a:lvl4pPr>
              <a:defRPr sz="2400">
                <a:solidFill>
                  <a:schemeClr val="tx1"/>
                </a:solidFill>
                <a:latin typeface="Arial" panose="020B0604020202020204" pitchFamily="34" charset="0"/>
                <a:ea typeface="ＭＳ Ｐゴシック" panose="020B0600070205080204" pitchFamily="34" charset="-128"/>
              </a:defRPr>
            </a:lvl4pPr>
            <a:lvl5pPr>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defRPr/>
            </a:pPr>
            <a:r>
              <a:rPr lang="en-US" altLang="en-US" sz="1600" dirty="0"/>
              <a:t>Run all chunks above</a:t>
            </a:r>
          </a:p>
        </p:txBody>
      </p:sp>
      <p:sp>
        <p:nvSpPr>
          <p:cNvPr id="23557" name="TextBox 9">
            <a:extLst>
              <a:ext uri="{FF2B5EF4-FFF2-40B4-BE49-F238E27FC236}">
                <a16:creationId xmlns:a16="http://schemas.microsoft.com/office/drawing/2014/main" id="{A2DF872B-1517-194B-B3DE-75AB65BE2F13}"/>
              </a:ext>
            </a:extLst>
          </p:cNvPr>
          <p:cNvSpPr txBox="1">
            <a:spLocks noChangeArrowheads="1"/>
          </p:cNvSpPr>
          <p:nvPr/>
        </p:nvSpPr>
        <p:spPr bwMode="auto">
          <a:xfrm>
            <a:off x="7086600" y="2549526"/>
            <a:ext cx="838200" cy="8302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600">
                <a:latin typeface="Arial" panose="020B0604020202020204" pitchFamily="34" charset="0"/>
              </a:rPr>
              <a:t>Run </a:t>
            </a:r>
          </a:p>
          <a:p>
            <a:pPr eaLnBrk="1" hangingPunct="1">
              <a:spcBef>
                <a:spcPct val="0"/>
              </a:spcBef>
              <a:buFontTx/>
              <a:buNone/>
            </a:pPr>
            <a:r>
              <a:rPr lang="en-US" altLang="en-US" sz="1600">
                <a:latin typeface="Arial" panose="020B0604020202020204" pitchFamily="34" charset="0"/>
              </a:rPr>
              <a:t>current chunk</a:t>
            </a:r>
          </a:p>
        </p:txBody>
      </p:sp>
      <p:cxnSp>
        <p:nvCxnSpPr>
          <p:cNvPr id="8" name="Straight Arrow Connector 7">
            <a:extLst>
              <a:ext uri="{FF2B5EF4-FFF2-40B4-BE49-F238E27FC236}">
                <a16:creationId xmlns:a16="http://schemas.microsoft.com/office/drawing/2014/main" id="{8815D59D-EBF4-0449-8209-58F0830930FF}"/>
              </a:ext>
            </a:extLst>
          </p:cNvPr>
          <p:cNvCxnSpPr>
            <a:cxnSpLocks/>
          </p:cNvCxnSpPr>
          <p:nvPr/>
        </p:nvCxnSpPr>
        <p:spPr>
          <a:xfrm flipH="1" flipV="1">
            <a:off x="6781800" y="2522539"/>
            <a:ext cx="304800" cy="1682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F38C6CD-E501-D441-AEAC-06F4E1365516}"/>
              </a:ext>
            </a:extLst>
          </p:cNvPr>
          <p:cNvCxnSpPr>
            <a:cxnSpLocks/>
            <a:stCxn id="26632" idx="3"/>
          </p:cNvCxnSpPr>
          <p:nvPr/>
        </p:nvCxnSpPr>
        <p:spPr>
          <a:xfrm flipV="1">
            <a:off x="6259513" y="2497139"/>
            <a:ext cx="285750" cy="523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1DBDB403-B024-AE4F-9889-D97360B2D8E4}"/>
              </a:ext>
            </a:extLst>
          </p:cNvPr>
          <p:cNvSpPr>
            <a:spLocks noGrp="1"/>
          </p:cNvSpPr>
          <p:nvPr>
            <p:ph type="title"/>
          </p:nvPr>
        </p:nvSpPr>
        <p:spPr/>
        <p:txBody>
          <a:bodyPr/>
          <a:lstStyle/>
          <a:p>
            <a:r>
              <a:rPr lang="en-US" altLang="en-US" b="1">
                <a:ea typeface="ＭＳ Ｐゴシック" panose="020B0600070205080204" pitchFamily="34" charset="-128"/>
              </a:rPr>
              <a:t>‘Knit’ R Markdown</a:t>
            </a:r>
          </a:p>
        </p:txBody>
      </p:sp>
      <p:sp>
        <p:nvSpPr>
          <p:cNvPr id="4" name="Footer Placeholder 3">
            <a:extLst>
              <a:ext uri="{FF2B5EF4-FFF2-40B4-BE49-F238E27FC236}">
                <a16:creationId xmlns:a16="http://schemas.microsoft.com/office/drawing/2014/main" id="{6E399DEE-72AD-E844-9A81-6AA8527F58B4}"/>
              </a:ext>
            </a:extLst>
          </p:cNvPr>
          <p:cNvSpPr>
            <a:spLocks noGrp="1"/>
          </p:cNvSpPr>
          <p:nvPr>
            <p:ph type="ftr" sz="quarter" idx="11"/>
          </p:nvPr>
        </p:nvSpPr>
        <p:spPr/>
        <p:txBody>
          <a:bodyPr/>
          <a:lstStyle/>
          <a:p>
            <a:pPr>
              <a:defRPr/>
            </a:pPr>
            <a:r>
              <a:rPr lang="en-US" dirty="0"/>
              <a:t>Intro to R</a:t>
            </a:r>
          </a:p>
        </p:txBody>
      </p:sp>
      <p:sp>
        <p:nvSpPr>
          <p:cNvPr id="25603" name="Slide Number Placeholder 4">
            <a:extLst>
              <a:ext uri="{FF2B5EF4-FFF2-40B4-BE49-F238E27FC236}">
                <a16:creationId xmlns:a16="http://schemas.microsoft.com/office/drawing/2014/main" id="{D0173DC8-0009-CB46-BE07-89F9FD9FBB2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B56A2DDB-1A24-CD4E-9633-908184037853}" type="slidenum">
              <a:rPr lang="en-US" altLang="en-US" sz="1200">
                <a:solidFill>
                  <a:srgbClr val="898989"/>
                </a:solidFill>
              </a:rPr>
              <a:pPr>
                <a:spcBef>
                  <a:spcPct val="0"/>
                </a:spcBef>
                <a:buFontTx/>
                <a:buNone/>
              </a:pPr>
              <a:t>8</a:t>
            </a:fld>
            <a:endParaRPr lang="en-US" altLang="en-US" sz="1200">
              <a:solidFill>
                <a:srgbClr val="898989"/>
              </a:solidFill>
            </a:endParaRPr>
          </a:p>
        </p:txBody>
      </p:sp>
      <p:pic>
        <p:nvPicPr>
          <p:cNvPr id="25604" name="Picture 6" descr="Screen Shot 2018-05-04 at 1.45.12 PM.png">
            <a:extLst>
              <a:ext uri="{FF2B5EF4-FFF2-40B4-BE49-F238E27FC236}">
                <a16:creationId xmlns:a16="http://schemas.microsoft.com/office/drawing/2014/main" id="{B3FFC977-8BD2-AD42-834F-68CDF12DFFA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1371600"/>
            <a:ext cx="5895975"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7" descr="Screen Shot 2018-05-04 at 1.46.28 PM.png">
            <a:extLst>
              <a:ext uri="{FF2B5EF4-FFF2-40B4-BE49-F238E27FC236}">
                <a16:creationId xmlns:a16="http://schemas.microsoft.com/office/drawing/2014/main" id="{33D99786-9F6E-274E-9F1F-F6E1947CE9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2209800"/>
            <a:ext cx="41656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9" descr="Screen Shot 2018-05-04 at 1.47.14 PM.png">
            <a:extLst>
              <a:ext uri="{FF2B5EF4-FFF2-40B4-BE49-F238E27FC236}">
                <a16:creationId xmlns:a16="http://schemas.microsoft.com/office/drawing/2014/main" id="{710EC831-B395-F843-9725-6B7AEFD8493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59500" y="1371600"/>
            <a:ext cx="45085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Placeholder 4">
            <a:extLst>
              <a:ext uri="{FF2B5EF4-FFF2-40B4-BE49-F238E27FC236}">
                <a16:creationId xmlns:a16="http://schemas.microsoft.com/office/drawing/2014/main" id="{B6868B37-CFA3-6144-BDF2-9EEDD8951B53}"/>
              </a:ext>
            </a:extLst>
          </p:cNvPr>
          <p:cNvSpPr>
            <a:spLocks noGrp="1"/>
          </p:cNvSpPr>
          <p:nvPr>
            <p:ph type="body" idx="1"/>
          </p:nvPr>
        </p:nvSpPr>
        <p:spPr>
          <a:xfrm>
            <a:off x="3828494" y="1752600"/>
            <a:ext cx="4269229" cy="422484"/>
          </a:xfrm>
        </p:spPr>
        <p:txBody>
          <a:bodyPr/>
          <a:lstStyle/>
          <a:p>
            <a:pPr eaLnBrk="1" hangingPunct="1"/>
            <a:r>
              <a:rPr lang="en-US" altLang="en-US" sz="1800" dirty="0">
                <a:ea typeface="ＭＳ Ｐゴシック" panose="020B0600070205080204" pitchFamily="34" charset="-128"/>
              </a:rPr>
              <a:t>“Large p, small n”    (p&gt;&gt;n)</a:t>
            </a:r>
          </a:p>
        </p:txBody>
      </p:sp>
      <p:graphicFrame>
        <p:nvGraphicFramePr>
          <p:cNvPr id="9" name="Group 247">
            <a:extLst>
              <a:ext uri="{FF2B5EF4-FFF2-40B4-BE49-F238E27FC236}">
                <a16:creationId xmlns:a16="http://schemas.microsoft.com/office/drawing/2014/main" id="{C5DB260C-4319-8A41-BA06-25AC72C6F102}"/>
              </a:ext>
            </a:extLst>
          </p:cNvPr>
          <p:cNvGraphicFramePr>
            <a:graphicFrameLocks noGrp="1"/>
          </p:cNvGraphicFramePr>
          <p:nvPr>
            <p:extLst>
              <p:ext uri="{D42A27DB-BD31-4B8C-83A1-F6EECF244321}">
                <p14:modId xmlns:p14="http://schemas.microsoft.com/office/powerpoint/2010/main" val="3332018604"/>
              </p:ext>
            </p:extLst>
          </p:nvPr>
        </p:nvGraphicFramePr>
        <p:xfrm>
          <a:off x="3828494" y="2280910"/>
          <a:ext cx="4187032" cy="3439722"/>
        </p:xfrm>
        <a:graphic>
          <a:graphicData uri="http://schemas.openxmlformats.org/drawingml/2006/table">
            <a:tbl>
              <a:tblPr/>
              <a:tblGrid>
                <a:gridCol w="1580202">
                  <a:extLst>
                    <a:ext uri="{9D8B030D-6E8A-4147-A177-3AD203B41FA5}">
                      <a16:colId xmlns:a16="http://schemas.microsoft.com/office/drawing/2014/main" val="20000"/>
                    </a:ext>
                  </a:extLst>
                </a:gridCol>
                <a:gridCol w="711258">
                  <a:extLst>
                    <a:ext uri="{9D8B030D-6E8A-4147-A177-3AD203B41FA5}">
                      <a16:colId xmlns:a16="http://schemas.microsoft.com/office/drawing/2014/main" val="20001"/>
                    </a:ext>
                  </a:extLst>
                </a:gridCol>
                <a:gridCol w="630739">
                  <a:extLst>
                    <a:ext uri="{9D8B030D-6E8A-4147-A177-3AD203B41FA5}">
                      <a16:colId xmlns:a16="http://schemas.microsoft.com/office/drawing/2014/main" val="20002"/>
                    </a:ext>
                  </a:extLst>
                </a:gridCol>
                <a:gridCol w="632417">
                  <a:extLst>
                    <a:ext uri="{9D8B030D-6E8A-4147-A177-3AD203B41FA5}">
                      <a16:colId xmlns:a16="http://schemas.microsoft.com/office/drawing/2014/main" val="20003"/>
                    </a:ext>
                  </a:extLst>
                </a:gridCol>
                <a:gridCol w="632416">
                  <a:extLst>
                    <a:ext uri="{9D8B030D-6E8A-4147-A177-3AD203B41FA5}">
                      <a16:colId xmlns:a16="http://schemas.microsoft.com/office/drawing/2014/main" val="20004"/>
                    </a:ext>
                  </a:extLst>
                </a:gridCol>
              </a:tblGrid>
              <a:tr h="591549">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endParaRPr>
                    </a:p>
                  </a:txBody>
                  <a:tcPr marL="81280" marR="81280"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n Samples</a:t>
                      </a:r>
                    </a:p>
                  </a:txBody>
                  <a:tcPr marL="81280" marR="81280"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1936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endParaRPr>
                    </a:p>
                  </a:txBody>
                  <a:tcPr marL="81280" marR="81280"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1</a:t>
                      </a:r>
                    </a:p>
                  </a:txBody>
                  <a:tcPr marL="81280" marR="81280"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2</a:t>
                      </a:r>
                    </a:p>
                  </a:txBody>
                  <a:tcPr marL="81280" marR="81280"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3</a:t>
                      </a:r>
                    </a:p>
                  </a:txBody>
                  <a:tcPr marL="81280" marR="81280"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a:t>
                      </a:r>
                    </a:p>
                  </a:txBody>
                  <a:tcPr marL="81280" marR="81280"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36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Feature 1</a:t>
                      </a:r>
                    </a:p>
                  </a:txBody>
                  <a:tcPr marL="81280" marR="81280"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Y</a:t>
                      </a:r>
                      <a:r>
                        <a:rPr kumimoji="0" lang="en-US" altLang="en-US" sz="11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11</a:t>
                      </a:r>
                      <a:endParaRPr kumimoji="0" lang="en-US" altLang="en-US" sz="2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a:txBody>
                  <a:tcPr marL="81280" marR="81280"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Y</a:t>
                      </a:r>
                      <a:r>
                        <a:rPr kumimoji="0" lang="en-US" altLang="en-US" sz="11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12</a:t>
                      </a:r>
                      <a:endParaRPr kumimoji="0" lang="en-US" altLang="en-US" sz="20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a:txBody>
                  <a:tcPr marL="81280" marR="81280"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Y</a:t>
                      </a:r>
                      <a:r>
                        <a:rPr kumimoji="0" lang="en-US" altLang="en-US" sz="11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13</a:t>
                      </a:r>
                    </a:p>
                  </a:txBody>
                  <a:tcPr marL="81280" marR="81280"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a:t>
                      </a:r>
                    </a:p>
                  </a:txBody>
                  <a:tcPr marL="81280" marR="81280"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36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Feature 2</a:t>
                      </a:r>
                    </a:p>
                  </a:txBody>
                  <a:tcPr marL="81280" marR="81280"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Y</a:t>
                      </a:r>
                      <a:r>
                        <a:rPr kumimoji="0" lang="en-US" altLang="en-US" sz="11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21</a:t>
                      </a:r>
                    </a:p>
                  </a:txBody>
                  <a:tcPr marL="81280" marR="81280"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Y</a:t>
                      </a:r>
                      <a:r>
                        <a:rPr kumimoji="0" lang="en-US" altLang="en-US" sz="11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22</a:t>
                      </a:r>
                    </a:p>
                  </a:txBody>
                  <a:tcPr marL="81280" marR="81280"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Y</a:t>
                      </a:r>
                      <a:r>
                        <a:rPr kumimoji="0" lang="en-US" altLang="en-US" sz="11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23</a:t>
                      </a:r>
                    </a:p>
                  </a:txBody>
                  <a:tcPr marL="81280" marR="81280"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a:t>
                      </a:r>
                    </a:p>
                  </a:txBody>
                  <a:tcPr marL="81280" marR="81280"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936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Feature 3</a:t>
                      </a:r>
                    </a:p>
                  </a:txBody>
                  <a:tcPr marL="81280" marR="81280"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Y</a:t>
                      </a:r>
                      <a:r>
                        <a:rPr kumimoji="0" lang="en-US" altLang="en-US" sz="11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31</a:t>
                      </a:r>
                    </a:p>
                  </a:txBody>
                  <a:tcPr marL="81280" marR="81280"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Y</a:t>
                      </a:r>
                      <a:r>
                        <a:rPr kumimoji="0" lang="en-US" altLang="en-US" sz="11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32</a:t>
                      </a:r>
                    </a:p>
                  </a:txBody>
                  <a:tcPr marL="81280" marR="81280"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Y</a:t>
                      </a:r>
                      <a:r>
                        <a:rPr kumimoji="0" lang="en-US" altLang="en-US" sz="11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33</a:t>
                      </a:r>
                    </a:p>
                  </a:txBody>
                  <a:tcPr marL="81280" marR="81280"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a:t>
                      </a:r>
                    </a:p>
                  </a:txBody>
                  <a:tcPr marL="81280" marR="81280"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70705">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a:t>
                      </a:r>
                    </a:p>
                  </a:txBody>
                  <a:tcPr marL="81280" marR="81280"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a:t>
                      </a:r>
                    </a:p>
                    <a:p>
                      <a:pPr marL="0" marR="0" lvl="0" indent="0" algn="r" defTabSz="914400" rtl="0" eaLnBrk="0" fontAlgn="base" latinLnBrk="0" hangingPunct="0">
                        <a:lnSpc>
                          <a:spcPct val="100000"/>
                        </a:lnSpc>
                        <a:spcBef>
                          <a:spcPct val="20000"/>
                        </a:spcBef>
                        <a:spcAft>
                          <a:spcPct val="0"/>
                        </a:spcAft>
                        <a:buClrTx/>
                        <a:buSzTx/>
                        <a:buFontTx/>
                        <a:buNone/>
                        <a:tabLst/>
                      </a:pPr>
                      <a:endPar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a:txBody>
                  <a:tcPr marL="81280" marR="81280"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a:t>
                      </a:r>
                    </a:p>
                    <a:p>
                      <a:pPr marL="0" marR="0" lvl="0" indent="0" algn="r" defTabSz="914400" rtl="0" eaLnBrk="0" fontAlgn="base" latinLnBrk="0" hangingPunct="0">
                        <a:lnSpc>
                          <a:spcPct val="100000"/>
                        </a:lnSpc>
                        <a:spcBef>
                          <a:spcPct val="20000"/>
                        </a:spcBef>
                        <a:spcAft>
                          <a:spcPct val="0"/>
                        </a:spcAft>
                        <a:buClrTx/>
                        <a:buSzTx/>
                        <a:buFontTx/>
                        <a:buNone/>
                        <a:tabLst/>
                      </a:pPr>
                      <a:endPar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a:txBody>
                  <a:tcPr marL="81280" marR="81280"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a:t>
                      </a:r>
                    </a:p>
                    <a:p>
                      <a:pPr marL="0" marR="0" lvl="0" indent="0" algn="r" defTabSz="914400" rtl="0" eaLnBrk="0" fontAlgn="base" latinLnBrk="0" hangingPunct="0">
                        <a:lnSpc>
                          <a:spcPct val="100000"/>
                        </a:lnSpc>
                        <a:spcBef>
                          <a:spcPct val="20000"/>
                        </a:spcBef>
                        <a:spcAft>
                          <a:spcPct val="0"/>
                        </a:spcAft>
                        <a:buClrTx/>
                        <a:buSzTx/>
                        <a:buFontTx/>
                        <a:buNone/>
                        <a:tabLst/>
                      </a:pPr>
                      <a:endParaRPr kumimoji="0" lang="en-US" altLang="en-US" sz="18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a:txBody>
                  <a:tcPr marL="81280" marR="81280"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a:t>
                      </a:r>
                    </a:p>
                  </a:txBody>
                  <a:tcPr marL="81280" marR="81280"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3597" name="Rectangle 15">
            <a:extLst>
              <a:ext uri="{FF2B5EF4-FFF2-40B4-BE49-F238E27FC236}">
                <a16:creationId xmlns:a16="http://schemas.microsoft.com/office/drawing/2014/main" id="{6961544B-46BF-884D-A9DC-FAD55C595534}"/>
              </a:ext>
            </a:extLst>
          </p:cNvPr>
          <p:cNvSpPr>
            <a:spLocks noChangeArrowheads="1"/>
          </p:cNvSpPr>
          <p:nvPr/>
        </p:nvSpPr>
        <p:spPr bwMode="auto">
          <a:xfrm>
            <a:off x="7192172" y="1247387"/>
            <a:ext cx="257175" cy="36226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sp>
        <p:nvSpPr>
          <p:cNvPr id="23598" name="Rectangle 16">
            <a:extLst>
              <a:ext uri="{FF2B5EF4-FFF2-40B4-BE49-F238E27FC236}">
                <a16:creationId xmlns:a16="http://schemas.microsoft.com/office/drawing/2014/main" id="{DB1F5608-ABFD-AB41-BD05-A58C804C2FA4}"/>
              </a:ext>
            </a:extLst>
          </p:cNvPr>
          <p:cNvSpPr>
            <a:spLocks noChangeArrowheads="1"/>
          </p:cNvSpPr>
          <p:nvPr/>
        </p:nvSpPr>
        <p:spPr bwMode="auto">
          <a:xfrm>
            <a:off x="7449346" y="1247387"/>
            <a:ext cx="247650" cy="36226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sp>
        <p:nvSpPr>
          <p:cNvPr id="23599" name="Rectangle 17">
            <a:extLst>
              <a:ext uri="{FF2B5EF4-FFF2-40B4-BE49-F238E27FC236}">
                <a16:creationId xmlns:a16="http://schemas.microsoft.com/office/drawing/2014/main" id="{4B3EB9F7-7E4C-4A41-861C-80F673DC00D7}"/>
              </a:ext>
            </a:extLst>
          </p:cNvPr>
          <p:cNvSpPr>
            <a:spLocks noChangeArrowheads="1"/>
          </p:cNvSpPr>
          <p:nvPr/>
        </p:nvSpPr>
        <p:spPr bwMode="auto">
          <a:xfrm>
            <a:off x="7695408" y="1247387"/>
            <a:ext cx="204788" cy="36226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sp>
        <p:nvSpPr>
          <p:cNvPr id="23600" name="Rectangle 18">
            <a:extLst>
              <a:ext uri="{FF2B5EF4-FFF2-40B4-BE49-F238E27FC236}">
                <a16:creationId xmlns:a16="http://schemas.microsoft.com/office/drawing/2014/main" id="{7A50A767-57E9-5F49-BDE9-F7A98846621F}"/>
              </a:ext>
            </a:extLst>
          </p:cNvPr>
          <p:cNvSpPr>
            <a:spLocks noChangeArrowheads="1"/>
          </p:cNvSpPr>
          <p:nvPr/>
        </p:nvSpPr>
        <p:spPr bwMode="auto">
          <a:xfrm>
            <a:off x="7900196" y="1247387"/>
            <a:ext cx="247650" cy="36226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endParaRPr lang="en-US" altLang="en-US" sz="1800"/>
          </a:p>
        </p:txBody>
      </p:sp>
      <p:sp>
        <p:nvSpPr>
          <p:cNvPr id="3" name="Title 1">
            <a:extLst>
              <a:ext uri="{FF2B5EF4-FFF2-40B4-BE49-F238E27FC236}">
                <a16:creationId xmlns:a16="http://schemas.microsoft.com/office/drawing/2014/main" id="{A8AC8CB7-94C9-FA27-50B0-396AE096E957}"/>
              </a:ext>
            </a:extLst>
          </p:cNvPr>
          <p:cNvSpPr>
            <a:spLocks noGrp="1"/>
          </p:cNvSpPr>
          <p:nvPr>
            <p:ph type="title"/>
          </p:nvPr>
        </p:nvSpPr>
        <p:spPr>
          <a:xfrm>
            <a:off x="609600" y="274638"/>
            <a:ext cx="10972800" cy="1143000"/>
          </a:xfrm>
        </p:spPr>
        <p:txBody>
          <a:bodyPr/>
          <a:lstStyle/>
          <a:p>
            <a:r>
              <a:rPr lang="en-US" dirty="0"/>
              <a:t>Data Matrix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A76CD60-2914-4D40-BAD0-DCBF2B8DF3DE}"/>
              </a:ext>
            </a:extLst>
          </p:cNvPr>
          <p:cNvSpPr>
            <a:spLocks noGrp="1"/>
          </p:cNvSpPr>
          <p:nvPr>
            <p:ph type="title"/>
          </p:nvPr>
        </p:nvSpPr>
        <p:spPr/>
        <p:txBody>
          <a:bodyPr>
            <a:normAutofit/>
          </a:bodyPr>
          <a:lstStyle/>
          <a:p>
            <a:pPr>
              <a:defRPr/>
            </a:pPr>
            <a:r>
              <a:rPr lang="en-US" altLang="en-US" sz="4000" b="1" dirty="0">
                <a:ea typeface="ＭＳ Ｐゴシック" panose="020B0600070205080204" pitchFamily="34" charset="-128"/>
              </a:rPr>
              <a:t>Database Organization</a:t>
            </a:r>
          </a:p>
        </p:txBody>
      </p:sp>
      <p:sp>
        <p:nvSpPr>
          <p:cNvPr id="12" name="Rectangle 11">
            <a:extLst>
              <a:ext uri="{FF2B5EF4-FFF2-40B4-BE49-F238E27FC236}">
                <a16:creationId xmlns:a16="http://schemas.microsoft.com/office/drawing/2014/main" id="{8E1C9290-5712-554F-A75D-41474DE48EB2}"/>
              </a:ext>
            </a:extLst>
          </p:cNvPr>
          <p:cNvSpPr>
            <a:spLocks noChangeArrowheads="1"/>
          </p:cNvSpPr>
          <p:nvPr/>
        </p:nvSpPr>
        <p:spPr bwMode="auto">
          <a:xfrm>
            <a:off x="3390317" y="2107548"/>
            <a:ext cx="772916" cy="1630363"/>
          </a:xfrm>
          <a:prstGeom prst="rect">
            <a:avLst/>
          </a:prstGeom>
          <a:gradFill rotWithShape="1">
            <a:gsLst>
              <a:gs pos="0">
                <a:srgbClr val="A3C4FF"/>
              </a:gs>
              <a:gs pos="35001">
                <a:srgbClr val="BFD5FF"/>
              </a:gs>
              <a:gs pos="100000">
                <a:srgbClr val="E5EEFF"/>
              </a:gs>
            </a:gsLst>
            <a:lin ang="16200000" scaled="1"/>
          </a:gradFill>
          <a:ln w="9525">
            <a:solidFill>
              <a:srgbClr val="4A7EBB"/>
            </a:solidFill>
            <a:miter lim="800000"/>
            <a:headEnd/>
            <a:tailEnd/>
          </a:ln>
          <a:effectLst>
            <a:outerShdw blurRad="63500" dist="20000" dir="5400000" rotWithShape="0">
              <a:srgbClr val="000000">
                <a:alpha val="37999"/>
              </a:srgbClr>
            </a:outerShdw>
          </a:effectLst>
        </p:spPr>
        <p:txBody>
          <a:bodyPr anchor="ctr"/>
          <a:lstStyle/>
          <a:p>
            <a:pPr algn="ctr" eaLnBrk="1" hangingPunct="1">
              <a:defRPr/>
            </a:pPr>
            <a:endParaRPr lang="en-US">
              <a:solidFill>
                <a:schemeClr val="dk1"/>
              </a:solidFill>
              <a:latin typeface="+mn-lt"/>
              <a:ea typeface="+mn-ea"/>
            </a:endParaRPr>
          </a:p>
        </p:txBody>
      </p:sp>
      <p:sp>
        <p:nvSpPr>
          <p:cNvPr id="23555" name="TextBox 13">
            <a:extLst>
              <a:ext uri="{FF2B5EF4-FFF2-40B4-BE49-F238E27FC236}">
                <a16:creationId xmlns:a16="http://schemas.microsoft.com/office/drawing/2014/main" id="{BCABE6E0-C62F-2B49-B154-9D8FEFAF4F04}"/>
              </a:ext>
            </a:extLst>
          </p:cNvPr>
          <p:cNvSpPr txBox="1">
            <a:spLocks noChangeArrowheads="1"/>
          </p:cNvSpPr>
          <p:nvPr/>
        </p:nvSpPr>
        <p:spPr bwMode="auto">
          <a:xfrm rot="16200000">
            <a:off x="2644307" y="2364474"/>
            <a:ext cx="1055097" cy="4001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000" dirty="0">
                <a:solidFill>
                  <a:srgbClr val="0070C0"/>
                </a:solidFill>
                <a:latin typeface="Arial" panose="020B0604020202020204" pitchFamily="34" charset="0"/>
              </a:rPr>
              <a:t>Sample</a:t>
            </a:r>
          </a:p>
        </p:txBody>
      </p:sp>
      <p:sp>
        <p:nvSpPr>
          <p:cNvPr id="16" name="Rectangle 15">
            <a:extLst>
              <a:ext uri="{FF2B5EF4-FFF2-40B4-BE49-F238E27FC236}">
                <a16:creationId xmlns:a16="http://schemas.microsoft.com/office/drawing/2014/main" id="{9BF927DE-7048-D84C-BEC0-F1AB6698E6C8}"/>
              </a:ext>
            </a:extLst>
          </p:cNvPr>
          <p:cNvSpPr>
            <a:spLocks noChangeArrowheads="1"/>
          </p:cNvSpPr>
          <p:nvPr/>
        </p:nvSpPr>
        <p:spPr bwMode="auto">
          <a:xfrm>
            <a:off x="4836678" y="2107548"/>
            <a:ext cx="1627187" cy="3128962"/>
          </a:xfrm>
          <a:prstGeom prst="rect">
            <a:avLst/>
          </a:prstGeom>
          <a:gradFill rotWithShape="1">
            <a:gsLst>
              <a:gs pos="0">
                <a:srgbClr val="C9B5E8"/>
              </a:gs>
              <a:gs pos="35001">
                <a:srgbClr val="D9CBEE"/>
              </a:gs>
              <a:gs pos="100000">
                <a:srgbClr val="F0EAF9"/>
              </a:gs>
            </a:gsLst>
            <a:lin ang="16200000" scaled="1"/>
          </a:gradFill>
          <a:ln w="9525">
            <a:solidFill>
              <a:srgbClr val="7D60A0"/>
            </a:solidFill>
            <a:miter lim="800000"/>
            <a:headEnd/>
            <a:tailEnd/>
          </a:ln>
          <a:effectLst>
            <a:outerShdw blurRad="63500" dist="20000" dir="5400000" rotWithShape="0">
              <a:srgbClr val="000000">
                <a:alpha val="37999"/>
              </a:srgbClr>
            </a:outerShdw>
          </a:effectLst>
        </p:spPr>
        <p:txBody>
          <a:bodyPr anchor="t"/>
          <a:lstStyle/>
          <a:p>
            <a:pPr algn="ctr" eaLnBrk="1" hangingPunct="1">
              <a:defRPr/>
            </a:pPr>
            <a:endParaRPr lang="en-US" dirty="0">
              <a:solidFill>
                <a:schemeClr val="dk1"/>
              </a:solidFill>
              <a:latin typeface="+mn-lt"/>
              <a:ea typeface="+mn-ea"/>
            </a:endParaRPr>
          </a:p>
          <a:p>
            <a:pPr algn="ctr" eaLnBrk="1" hangingPunct="1">
              <a:defRPr/>
            </a:pPr>
            <a:endParaRPr lang="en-US" dirty="0">
              <a:solidFill>
                <a:schemeClr val="dk1"/>
              </a:solidFill>
              <a:latin typeface="+mn-lt"/>
              <a:ea typeface="+mn-ea"/>
            </a:endParaRPr>
          </a:p>
          <a:p>
            <a:pPr algn="ctr" eaLnBrk="1" hangingPunct="1">
              <a:defRPr/>
            </a:pPr>
            <a:endParaRPr lang="en-US" dirty="0">
              <a:solidFill>
                <a:schemeClr val="dk1"/>
              </a:solidFill>
              <a:latin typeface="+mn-lt"/>
              <a:ea typeface="+mn-ea"/>
            </a:endParaRPr>
          </a:p>
          <a:p>
            <a:pPr algn="ctr" eaLnBrk="1" hangingPunct="1">
              <a:defRPr/>
            </a:pPr>
            <a:r>
              <a:rPr lang="en-US" dirty="0">
                <a:solidFill>
                  <a:schemeClr val="dk1"/>
                </a:solidFill>
                <a:latin typeface="+mn-lt"/>
                <a:ea typeface="+mn-ea"/>
              </a:rPr>
              <a:t>Quantities Measured by </a:t>
            </a:r>
            <a:r>
              <a:rPr lang="en-US" dirty="0">
                <a:solidFill>
                  <a:srgbClr val="C00000"/>
                </a:solidFill>
                <a:latin typeface="+mn-lt"/>
                <a:ea typeface="+mn-ea"/>
              </a:rPr>
              <a:t>Counts</a:t>
            </a:r>
          </a:p>
        </p:txBody>
      </p:sp>
      <p:sp>
        <p:nvSpPr>
          <p:cNvPr id="23558" name="TextBox 16">
            <a:extLst>
              <a:ext uri="{FF2B5EF4-FFF2-40B4-BE49-F238E27FC236}">
                <a16:creationId xmlns:a16="http://schemas.microsoft.com/office/drawing/2014/main" id="{377F94EB-0B15-A341-893D-8BC9F9D747A2}"/>
              </a:ext>
            </a:extLst>
          </p:cNvPr>
          <p:cNvSpPr txBox="1">
            <a:spLocks noChangeArrowheads="1"/>
          </p:cNvSpPr>
          <p:nvPr/>
        </p:nvSpPr>
        <p:spPr bwMode="auto">
          <a:xfrm>
            <a:off x="4824732" y="1683039"/>
            <a:ext cx="105509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000" dirty="0">
                <a:solidFill>
                  <a:srgbClr val="0070C0"/>
                </a:solidFill>
                <a:latin typeface="Arial" panose="020B0604020202020204" pitchFamily="34" charset="0"/>
              </a:rPr>
              <a:t>Sample</a:t>
            </a:r>
          </a:p>
          <a:p>
            <a:pPr eaLnBrk="1" hangingPunct="1">
              <a:spcBef>
                <a:spcPct val="0"/>
              </a:spcBef>
              <a:buFontTx/>
              <a:buNone/>
            </a:pPr>
            <a:endParaRPr lang="en-US" altLang="en-US" sz="2000" dirty="0">
              <a:latin typeface="Arial" panose="020B0604020202020204" pitchFamily="34" charset="0"/>
            </a:endParaRPr>
          </a:p>
        </p:txBody>
      </p:sp>
      <p:sp>
        <p:nvSpPr>
          <p:cNvPr id="23559" name="TextBox 17">
            <a:extLst>
              <a:ext uri="{FF2B5EF4-FFF2-40B4-BE49-F238E27FC236}">
                <a16:creationId xmlns:a16="http://schemas.microsoft.com/office/drawing/2014/main" id="{A1F66C9E-8B01-F843-9F5F-32688298ECA5}"/>
              </a:ext>
            </a:extLst>
          </p:cNvPr>
          <p:cNvSpPr txBox="1">
            <a:spLocks noChangeArrowheads="1"/>
          </p:cNvSpPr>
          <p:nvPr/>
        </p:nvSpPr>
        <p:spPr bwMode="auto">
          <a:xfrm rot="-5400000">
            <a:off x="3420262" y="2985561"/>
            <a:ext cx="24088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000" dirty="0">
                <a:solidFill>
                  <a:srgbClr val="C00000"/>
                </a:solidFill>
                <a:latin typeface="Arial" panose="020B0604020202020204" pitchFamily="34" charset="0"/>
              </a:rPr>
              <a:t>Genomic Features</a:t>
            </a:r>
          </a:p>
        </p:txBody>
      </p:sp>
      <p:sp>
        <p:nvSpPr>
          <p:cNvPr id="18" name="Rectangle 17">
            <a:extLst>
              <a:ext uri="{FF2B5EF4-FFF2-40B4-BE49-F238E27FC236}">
                <a16:creationId xmlns:a16="http://schemas.microsoft.com/office/drawing/2014/main" id="{BFBD5B08-A54D-8540-860C-D7AF782A828B}"/>
              </a:ext>
            </a:extLst>
          </p:cNvPr>
          <p:cNvSpPr>
            <a:spLocks noChangeArrowheads="1"/>
          </p:cNvSpPr>
          <p:nvPr/>
        </p:nvSpPr>
        <p:spPr bwMode="auto">
          <a:xfrm>
            <a:off x="7575326" y="2107548"/>
            <a:ext cx="1056700" cy="3128962"/>
          </a:xfrm>
          <a:prstGeom prst="rect">
            <a:avLst/>
          </a:prstGeom>
          <a:gradFill rotWithShape="1">
            <a:gsLst>
              <a:gs pos="0">
                <a:srgbClr val="DAFDA7"/>
              </a:gs>
              <a:gs pos="35001">
                <a:srgbClr val="E4FDC2"/>
              </a:gs>
              <a:gs pos="100000">
                <a:srgbClr val="F5FFE6"/>
              </a:gs>
            </a:gsLst>
            <a:lin ang="16200000" scaled="1"/>
          </a:gradFill>
          <a:ln w="9525">
            <a:solidFill>
              <a:srgbClr val="98B954"/>
            </a:solidFill>
            <a:miter lim="800000"/>
            <a:headEnd/>
            <a:tailEnd/>
          </a:ln>
          <a:effectLst>
            <a:outerShdw blurRad="63500" dist="20000" dir="5400000" rotWithShape="0">
              <a:srgbClr val="000000">
                <a:alpha val="37999"/>
              </a:srgbClr>
            </a:outerShdw>
          </a:effectLst>
        </p:spPr>
        <p:txBody>
          <a:bodyPr anchor="ctr"/>
          <a:lstStyle/>
          <a:p>
            <a:pPr algn="ctr" eaLnBrk="1" hangingPunct="1">
              <a:defRPr/>
            </a:pPr>
            <a:endParaRPr lang="en-US">
              <a:solidFill>
                <a:schemeClr val="dk1"/>
              </a:solidFill>
              <a:latin typeface="+mn-lt"/>
              <a:ea typeface="+mn-ea"/>
            </a:endParaRPr>
          </a:p>
        </p:txBody>
      </p:sp>
      <p:sp>
        <p:nvSpPr>
          <p:cNvPr id="10" name="TextBox 17">
            <a:extLst>
              <a:ext uri="{FF2B5EF4-FFF2-40B4-BE49-F238E27FC236}">
                <a16:creationId xmlns:a16="http://schemas.microsoft.com/office/drawing/2014/main" id="{1080104F-E78E-0546-850F-3E9A5FCCF78E}"/>
              </a:ext>
            </a:extLst>
          </p:cNvPr>
          <p:cNvSpPr txBox="1">
            <a:spLocks noChangeArrowheads="1"/>
          </p:cNvSpPr>
          <p:nvPr/>
        </p:nvSpPr>
        <p:spPr bwMode="auto">
          <a:xfrm rot="-5400000">
            <a:off x="6139329" y="2892023"/>
            <a:ext cx="24088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000" dirty="0">
                <a:solidFill>
                  <a:srgbClr val="C00000"/>
                </a:solidFill>
                <a:latin typeface="Arial" panose="020B0604020202020204" pitchFamily="34" charset="0"/>
              </a:rPr>
              <a:t>Genomic Features</a:t>
            </a:r>
          </a:p>
        </p:txBody>
      </p:sp>
      <p:sp>
        <p:nvSpPr>
          <p:cNvPr id="2" name="TextBox 1">
            <a:extLst>
              <a:ext uri="{FF2B5EF4-FFF2-40B4-BE49-F238E27FC236}">
                <a16:creationId xmlns:a16="http://schemas.microsoft.com/office/drawing/2014/main" id="{740CC22F-92AB-036C-F2C0-A1175AC51E9D}"/>
              </a:ext>
            </a:extLst>
          </p:cNvPr>
          <p:cNvSpPr txBox="1"/>
          <p:nvPr/>
        </p:nvSpPr>
        <p:spPr>
          <a:xfrm>
            <a:off x="5077037" y="5791200"/>
            <a:ext cx="1146468" cy="369332"/>
          </a:xfrm>
          <a:prstGeom prst="rect">
            <a:avLst/>
          </a:prstGeom>
          <a:noFill/>
        </p:spPr>
        <p:txBody>
          <a:bodyPr wrap="none" rtlCol="0">
            <a:spAutoFit/>
          </a:bodyPr>
          <a:lstStyle/>
          <a:p>
            <a:r>
              <a:rPr lang="en-US" dirty="0" err="1"/>
              <a:t>x$counts</a:t>
            </a:r>
            <a:endParaRPr lang="en-US" dirty="0"/>
          </a:p>
        </p:txBody>
      </p:sp>
      <p:sp>
        <p:nvSpPr>
          <p:cNvPr id="4" name="TextBox 3">
            <a:extLst>
              <a:ext uri="{FF2B5EF4-FFF2-40B4-BE49-F238E27FC236}">
                <a16:creationId xmlns:a16="http://schemas.microsoft.com/office/drawing/2014/main" id="{157F00A1-BC08-DE16-5858-2423654A0075}"/>
              </a:ext>
            </a:extLst>
          </p:cNvPr>
          <p:cNvSpPr txBox="1"/>
          <p:nvPr/>
        </p:nvSpPr>
        <p:spPr>
          <a:xfrm>
            <a:off x="152400" y="5410982"/>
            <a:ext cx="1967205" cy="369332"/>
          </a:xfrm>
          <a:prstGeom prst="rect">
            <a:avLst/>
          </a:prstGeom>
          <a:noFill/>
        </p:spPr>
        <p:txBody>
          <a:bodyPr wrap="none" rtlCol="0">
            <a:spAutoFit/>
          </a:bodyPr>
          <a:lstStyle/>
          <a:p>
            <a:r>
              <a:rPr lang="en-US" dirty="0" err="1"/>
              <a:t>DGEList</a:t>
            </a:r>
            <a:r>
              <a:rPr lang="en-US" dirty="0"/>
              <a:t> object: x</a:t>
            </a:r>
          </a:p>
        </p:txBody>
      </p:sp>
      <p:sp>
        <p:nvSpPr>
          <p:cNvPr id="5" name="TextBox 4">
            <a:extLst>
              <a:ext uri="{FF2B5EF4-FFF2-40B4-BE49-F238E27FC236}">
                <a16:creationId xmlns:a16="http://schemas.microsoft.com/office/drawing/2014/main" id="{72FECFA9-B53A-A840-3D5F-7C9ACEE66232}"/>
              </a:ext>
            </a:extLst>
          </p:cNvPr>
          <p:cNvSpPr txBox="1"/>
          <p:nvPr/>
        </p:nvSpPr>
        <p:spPr>
          <a:xfrm>
            <a:off x="3150084" y="5780314"/>
            <a:ext cx="1172116" cy="369332"/>
          </a:xfrm>
          <a:prstGeom prst="rect">
            <a:avLst/>
          </a:prstGeom>
          <a:noFill/>
        </p:spPr>
        <p:txBody>
          <a:bodyPr wrap="none" rtlCol="0">
            <a:spAutoFit/>
          </a:bodyPr>
          <a:lstStyle/>
          <a:p>
            <a:r>
              <a:rPr lang="en-US" dirty="0" err="1"/>
              <a:t>x$sample</a:t>
            </a:r>
            <a:endParaRPr lang="en-US" dirty="0"/>
          </a:p>
        </p:txBody>
      </p:sp>
      <p:sp>
        <p:nvSpPr>
          <p:cNvPr id="7" name="TextBox 6">
            <a:extLst>
              <a:ext uri="{FF2B5EF4-FFF2-40B4-BE49-F238E27FC236}">
                <a16:creationId xmlns:a16="http://schemas.microsoft.com/office/drawing/2014/main" id="{726E5FD7-6CB0-2A93-ACB9-7184E5C4CF07}"/>
              </a:ext>
            </a:extLst>
          </p:cNvPr>
          <p:cNvSpPr txBox="1"/>
          <p:nvPr/>
        </p:nvSpPr>
        <p:spPr>
          <a:xfrm>
            <a:off x="7594389" y="5806440"/>
            <a:ext cx="1056700" cy="369332"/>
          </a:xfrm>
          <a:prstGeom prst="rect">
            <a:avLst/>
          </a:prstGeom>
          <a:noFill/>
        </p:spPr>
        <p:txBody>
          <a:bodyPr wrap="none" rtlCol="0">
            <a:spAutoFit/>
          </a:bodyPr>
          <a:lstStyle/>
          <a:p>
            <a:r>
              <a:rPr lang="en-US" dirty="0" err="1"/>
              <a:t>x$genes</a:t>
            </a:r>
            <a:endParaRPr lang="en-US" dirty="0"/>
          </a:p>
        </p:txBody>
      </p:sp>
    </p:spTree>
    <p:extLst>
      <p:ext uri="{BB962C8B-B14F-4D97-AF65-F5344CB8AC3E}">
        <p14:creationId xmlns:p14="http://schemas.microsoft.com/office/powerpoint/2010/main" val="3387581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C74C3C4-E4BB-0D52-6464-910575EE277D}"/>
              </a:ext>
            </a:extLst>
          </p:cNvPr>
          <p:cNvSpPr>
            <a:spLocks noGrp="1"/>
          </p:cNvSpPr>
          <p:nvPr>
            <p:ph type="sldNum" sz="quarter" idx="12"/>
          </p:nvPr>
        </p:nvSpPr>
        <p:spPr/>
        <p:txBody>
          <a:bodyPr/>
          <a:lstStyle/>
          <a:p>
            <a:pPr>
              <a:defRPr/>
            </a:pPr>
            <a:fld id="{09B82BB3-367D-3E49-A00D-E346D4E21EB9}" type="slidenum">
              <a:rPr lang="en-US" altLang="en-US" smtClean="0"/>
              <a:pPr>
                <a:defRPr/>
              </a:pPr>
              <a:t>11</a:t>
            </a:fld>
            <a:endParaRPr lang="en-US" altLang="en-US"/>
          </a:p>
        </p:txBody>
      </p:sp>
      <p:pic>
        <p:nvPicPr>
          <p:cNvPr id="7" name="Picture 6" descr="A screenshot of a computer&#10;&#10;AI-generated content may be incorrect.">
            <a:extLst>
              <a:ext uri="{FF2B5EF4-FFF2-40B4-BE49-F238E27FC236}">
                <a16:creationId xmlns:a16="http://schemas.microsoft.com/office/drawing/2014/main" id="{8B508DD0-9547-C9CE-E9C0-422E761C5A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5500" y="136524"/>
            <a:ext cx="8953084" cy="6065714"/>
          </a:xfrm>
          <a:prstGeom prst="rect">
            <a:avLst/>
          </a:prstGeom>
        </p:spPr>
      </p:pic>
      <p:sp>
        <p:nvSpPr>
          <p:cNvPr id="10" name="TextBox 9">
            <a:extLst>
              <a:ext uri="{FF2B5EF4-FFF2-40B4-BE49-F238E27FC236}">
                <a16:creationId xmlns:a16="http://schemas.microsoft.com/office/drawing/2014/main" id="{53C0D75A-E60C-1A73-1F54-8FCC4EE60C50}"/>
              </a:ext>
            </a:extLst>
          </p:cNvPr>
          <p:cNvSpPr txBox="1"/>
          <p:nvPr/>
        </p:nvSpPr>
        <p:spPr>
          <a:xfrm>
            <a:off x="2095500" y="6243162"/>
            <a:ext cx="415498"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2209852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54BBCF6-D0E7-B296-EBA0-51B2F1FD83FE}"/>
              </a:ext>
            </a:extLst>
          </p:cNvPr>
          <p:cNvSpPr txBox="1"/>
          <p:nvPr/>
        </p:nvSpPr>
        <p:spPr>
          <a:xfrm>
            <a:off x="3429806" y="5802868"/>
            <a:ext cx="1428596" cy="369332"/>
          </a:xfrm>
          <a:prstGeom prst="rect">
            <a:avLst/>
          </a:prstGeom>
          <a:noFill/>
        </p:spPr>
        <p:txBody>
          <a:bodyPr wrap="none" rtlCol="0">
            <a:spAutoFit/>
          </a:bodyPr>
          <a:lstStyle/>
          <a:p>
            <a:r>
              <a:rPr lang="en-US" dirty="0"/>
              <a:t>counts(</a:t>
            </a:r>
            <a:r>
              <a:rPr lang="en-US" dirty="0" err="1"/>
              <a:t>sce</a:t>
            </a:r>
            <a:r>
              <a:rPr lang="en-US" dirty="0"/>
              <a:t>)</a:t>
            </a:r>
          </a:p>
        </p:txBody>
      </p:sp>
      <p:sp>
        <p:nvSpPr>
          <p:cNvPr id="6" name="Title 5">
            <a:extLst>
              <a:ext uri="{FF2B5EF4-FFF2-40B4-BE49-F238E27FC236}">
                <a16:creationId xmlns:a16="http://schemas.microsoft.com/office/drawing/2014/main" id="{0A76CD60-2914-4D40-BAD0-DCBF2B8DF3DE}"/>
              </a:ext>
            </a:extLst>
          </p:cNvPr>
          <p:cNvSpPr>
            <a:spLocks noGrp="1"/>
          </p:cNvSpPr>
          <p:nvPr>
            <p:ph type="title"/>
          </p:nvPr>
        </p:nvSpPr>
        <p:spPr>
          <a:xfrm>
            <a:off x="678600" y="215470"/>
            <a:ext cx="10972800" cy="1143000"/>
          </a:xfrm>
        </p:spPr>
        <p:txBody>
          <a:bodyPr>
            <a:normAutofit/>
          </a:bodyPr>
          <a:lstStyle/>
          <a:p>
            <a:pPr>
              <a:defRPr/>
            </a:pPr>
            <a:r>
              <a:rPr lang="en-US" altLang="en-US" sz="4000" b="1" dirty="0">
                <a:ea typeface="ＭＳ Ｐゴシック" panose="020B0600070205080204" pitchFamily="34" charset="-128"/>
              </a:rPr>
              <a:t>Single-Cell Sequence Data</a:t>
            </a:r>
          </a:p>
        </p:txBody>
      </p:sp>
      <p:sp>
        <p:nvSpPr>
          <p:cNvPr id="12" name="Rectangle 11">
            <a:extLst>
              <a:ext uri="{FF2B5EF4-FFF2-40B4-BE49-F238E27FC236}">
                <a16:creationId xmlns:a16="http://schemas.microsoft.com/office/drawing/2014/main" id="{8E1C9290-5712-554F-A75D-41474DE48EB2}"/>
              </a:ext>
            </a:extLst>
          </p:cNvPr>
          <p:cNvSpPr>
            <a:spLocks noChangeArrowheads="1"/>
          </p:cNvSpPr>
          <p:nvPr/>
        </p:nvSpPr>
        <p:spPr bwMode="auto">
          <a:xfrm>
            <a:off x="8288439" y="1859223"/>
            <a:ext cx="1444469" cy="3926322"/>
          </a:xfrm>
          <a:prstGeom prst="rect">
            <a:avLst/>
          </a:prstGeom>
          <a:gradFill rotWithShape="1">
            <a:gsLst>
              <a:gs pos="0">
                <a:srgbClr val="A3C4FF"/>
              </a:gs>
              <a:gs pos="35001">
                <a:srgbClr val="BFD5FF"/>
              </a:gs>
              <a:gs pos="100000">
                <a:srgbClr val="E5EEFF"/>
              </a:gs>
            </a:gsLst>
            <a:lin ang="16200000" scaled="1"/>
          </a:gradFill>
          <a:ln w="9525">
            <a:solidFill>
              <a:srgbClr val="4A7EBB"/>
            </a:solidFill>
            <a:miter lim="800000"/>
            <a:headEnd/>
            <a:tailEnd/>
          </a:ln>
          <a:effectLst>
            <a:outerShdw blurRad="63500" dist="20000" dir="5400000" rotWithShape="0">
              <a:srgbClr val="000000">
                <a:alpha val="37999"/>
              </a:srgbClr>
            </a:outerShdw>
          </a:effectLst>
        </p:spPr>
        <p:txBody>
          <a:bodyPr anchor="ctr"/>
          <a:lstStyle/>
          <a:p>
            <a:pPr algn="ctr" eaLnBrk="1" hangingPunct="1">
              <a:defRPr/>
            </a:pPr>
            <a:r>
              <a:rPr lang="en-US" dirty="0">
                <a:solidFill>
                  <a:schemeClr val="dk1"/>
                </a:solidFill>
                <a:latin typeface="+mn-lt"/>
                <a:ea typeface="+mn-ea"/>
              </a:rPr>
              <a:t>Principal Components</a:t>
            </a:r>
          </a:p>
        </p:txBody>
      </p:sp>
      <p:sp>
        <p:nvSpPr>
          <p:cNvPr id="23555" name="TextBox 13">
            <a:extLst>
              <a:ext uri="{FF2B5EF4-FFF2-40B4-BE49-F238E27FC236}">
                <a16:creationId xmlns:a16="http://schemas.microsoft.com/office/drawing/2014/main" id="{BCABE6E0-C62F-2B49-B154-9D8FEFAF4F04}"/>
              </a:ext>
            </a:extLst>
          </p:cNvPr>
          <p:cNvSpPr txBox="1">
            <a:spLocks noChangeArrowheads="1"/>
          </p:cNvSpPr>
          <p:nvPr/>
        </p:nvSpPr>
        <p:spPr bwMode="auto">
          <a:xfrm rot="16200000">
            <a:off x="7755702" y="1953131"/>
            <a:ext cx="628698" cy="4001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000" dirty="0">
                <a:solidFill>
                  <a:srgbClr val="0070C0"/>
                </a:solidFill>
                <a:latin typeface="Arial" panose="020B0604020202020204" pitchFamily="34" charset="0"/>
              </a:rPr>
              <a:t>Cell</a:t>
            </a:r>
          </a:p>
        </p:txBody>
      </p:sp>
      <p:sp>
        <p:nvSpPr>
          <p:cNvPr id="16" name="Rectangle 15">
            <a:extLst>
              <a:ext uri="{FF2B5EF4-FFF2-40B4-BE49-F238E27FC236}">
                <a16:creationId xmlns:a16="http://schemas.microsoft.com/office/drawing/2014/main" id="{9BF927DE-7048-D84C-BEC0-F1AB6698E6C8}"/>
              </a:ext>
            </a:extLst>
          </p:cNvPr>
          <p:cNvSpPr>
            <a:spLocks noChangeArrowheads="1"/>
          </p:cNvSpPr>
          <p:nvPr/>
        </p:nvSpPr>
        <p:spPr bwMode="auto">
          <a:xfrm>
            <a:off x="2051545" y="1961112"/>
            <a:ext cx="3926321" cy="3128962"/>
          </a:xfrm>
          <a:prstGeom prst="rect">
            <a:avLst/>
          </a:prstGeom>
          <a:gradFill rotWithShape="1">
            <a:gsLst>
              <a:gs pos="0">
                <a:srgbClr val="C9B5E8"/>
              </a:gs>
              <a:gs pos="35001">
                <a:srgbClr val="D9CBEE"/>
              </a:gs>
              <a:gs pos="100000">
                <a:srgbClr val="F0EAF9"/>
              </a:gs>
            </a:gsLst>
            <a:lin ang="16200000" scaled="1"/>
          </a:gradFill>
          <a:ln w="9525">
            <a:solidFill>
              <a:srgbClr val="7D60A0"/>
            </a:solidFill>
            <a:miter lim="800000"/>
            <a:headEnd/>
            <a:tailEnd/>
          </a:ln>
          <a:effectLst>
            <a:outerShdw blurRad="63500" dist="20000" dir="5400000" rotWithShape="0">
              <a:srgbClr val="000000">
                <a:alpha val="37999"/>
              </a:srgbClr>
            </a:outerShdw>
          </a:effectLst>
        </p:spPr>
        <p:txBody>
          <a:bodyPr anchor="t"/>
          <a:lstStyle/>
          <a:p>
            <a:pPr algn="ctr" eaLnBrk="1" hangingPunct="1">
              <a:defRPr/>
            </a:pPr>
            <a:endParaRPr lang="en-US" dirty="0">
              <a:solidFill>
                <a:schemeClr val="dk1"/>
              </a:solidFill>
              <a:latin typeface="+mn-lt"/>
              <a:ea typeface="+mn-ea"/>
            </a:endParaRPr>
          </a:p>
          <a:p>
            <a:pPr algn="ctr" eaLnBrk="1" hangingPunct="1">
              <a:defRPr/>
            </a:pPr>
            <a:endParaRPr lang="en-US" dirty="0">
              <a:solidFill>
                <a:schemeClr val="dk1"/>
              </a:solidFill>
              <a:latin typeface="+mn-lt"/>
              <a:ea typeface="+mn-ea"/>
            </a:endParaRPr>
          </a:p>
          <a:p>
            <a:pPr algn="ctr" eaLnBrk="1" hangingPunct="1">
              <a:defRPr/>
            </a:pPr>
            <a:r>
              <a:rPr lang="en-US" dirty="0">
                <a:solidFill>
                  <a:schemeClr val="dk1"/>
                </a:solidFill>
                <a:latin typeface="+mn-lt"/>
                <a:ea typeface="+mn-ea"/>
              </a:rPr>
              <a:t>Quantities Measured by </a:t>
            </a:r>
            <a:r>
              <a:rPr lang="en-US" dirty="0">
                <a:solidFill>
                  <a:srgbClr val="C00000"/>
                </a:solidFill>
                <a:latin typeface="+mn-lt"/>
                <a:ea typeface="+mn-ea"/>
              </a:rPr>
              <a:t>Counts</a:t>
            </a:r>
          </a:p>
          <a:p>
            <a:pPr algn="ctr" eaLnBrk="1" hangingPunct="1">
              <a:defRPr/>
            </a:pPr>
            <a:endParaRPr lang="en-US" dirty="0">
              <a:solidFill>
                <a:srgbClr val="C00000"/>
              </a:solidFill>
              <a:latin typeface="+mn-lt"/>
              <a:ea typeface="+mn-ea"/>
            </a:endParaRPr>
          </a:p>
          <a:p>
            <a:pPr algn="ctr" eaLnBrk="1" hangingPunct="1">
              <a:defRPr/>
            </a:pPr>
            <a:r>
              <a:rPr lang="en-US" dirty="0">
                <a:latin typeface="+mn-lt"/>
                <a:ea typeface="+mn-ea"/>
              </a:rPr>
              <a:t>Sparse matrix: has lots of 0s</a:t>
            </a:r>
          </a:p>
          <a:p>
            <a:pPr algn="ctr" eaLnBrk="1" hangingPunct="1">
              <a:defRPr/>
            </a:pPr>
            <a:r>
              <a:rPr lang="en-US" dirty="0">
                <a:latin typeface="+mn-lt"/>
                <a:ea typeface="+mn-ea"/>
              </a:rPr>
              <a:t>class: </a:t>
            </a:r>
            <a:r>
              <a:rPr lang="en-US" dirty="0" err="1">
                <a:latin typeface="+mn-lt"/>
                <a:ea typeface="+mn-ea"/>
              </a:rPr>
              <a:t>dgCMatrix</a:t>
            </a:r>
            <a:endParaRPr lang="en-US" dirty="0">
              <a:latin typeface="+mn-lt"/>
              <a:ea typeface="+mn-ea"/>
            </a:endParaRPr>
          </a:p>
        </p:txBody>
      </p:sp>
      <p:sp>
        <p:nvSpPr>
          <p:cNvPr id="23558" name="TextBox 16">
            <a:extLst>
              <a:ext uri="{FF2B5EF4-FFF2-40B4-BE49-F238E27FC236}">
                <a16:creationId xmlns:a16="http://schemas.microsoft.com/office/drawing/2014/main" id="{377F94EB-0B15-A341-893D-8BC9F9D747A2}"/>
              </a:ext>
            </a:extLst>
          </p:cNvPr>
          <p:cNvSpPr txBox="1">
            <a:spLocks noChangeArrowheads="1"/>
          </p:cNvSpPr>
          <p:nvPr/>
        </p:nvSpPr>
        <p:spPr bwMode="auto">
          <a:xfrm>
            <a:off x="1979037" y="1535188"/>
            <a:ext cx="62869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000" dirty="0">
                <a:solidFill>
                  <a:srgbClr val="0070C0"/>
                </a:solidFill>
                <a:latin typeface="Arial" panose="020B0604020202020204" pitchFamily="34" charset="0"/>
              </a:rPr>
              <a:t>Cell</a:t>
            </a:r>
          </a:p>
          <a:p>
            <a:pPr eaLnBrk="1" hangingPunct="1">
              <a:spcBef>
                <a:spcPct val="0"/>
              </a:spcBef>
              <a:buFontTx/>
              <a:buNone/>
            </a:pPr>
            <a:endParaRPr lang="en-US" altLang="en-US" sz="2000" dirty="0">
              <a:latin typeface="Arial" panose="020B0604020202020204" pitchFamily="34" charset="0"/>
            </a:endParaRPr>
          </a:p>
        </p:txBody>
      </p:sp>
      <p:sp>
        <p:nvSpPr>
          <p:cNvPr id="23559" name="TextBox 17">
            <a:extLst>
              <a:ext uri="{FF2B5EF4-FFF2-40B4-BE49-F238E27FC236}">
                <a16:creationId xmlns:a16="http://schemas.microsoft.com/office/drawing/2014/main" id="{A1F66C9E-8B01-F843-9F5F-32688298ECA5}"/>
              </a:ext>
            </a:extLst>
          </p:cNvPr>
          <p:cNvSpPr txBox="1">
            <a:spLocks noChangeArrowheads="1"/>
          </p:cNvSpPr>
          <p:nvPr/>
        </p:nvSpPr>
        <p:spPr bwMode="auto">
          <a:xfrm rot="-5400000">
            <a:off x="635128" y="2839125"/>
            <a:ext cx="24088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000" dirty="0">
                <a:solidFill>
                  <a:srgbClr val="C00000"/>
                </a:solidFill>
                <a:latin typeface="Arial" panose="020B0604020202020204" pitchFamily="34" charset="0"/>
              </a:rPr>
              <a:t>Genomic Features</a:t>
            </a:r>
          </a:p>
        </p:txBody>
      </p:sp>
      <p:sp>
        <p:nvSpPr>
          <p:cNvPr id="9" name="TextBox 8">
            <a:extLst>
              <a:ext uri="{FF2B5EF4-FFF2-40B4-BE49-F238E27FC236}">
                <a16:creationId xmlns:a16="http://schemas.microsoft.com/office/drawing/2014/main" id="{4FF676AB-6766-8808-B82A-60AC83F88E20}"/>
              </a:ext>
            </a:extLst>
          </p:cNvPr>
          <p:cNvSpPr txBox="1"/>
          <p:nvPr/>
        </p:nvSpPr>
        <p:spPr>
          <a:xfrm>
            <a:off x="186529" y="5525869"/>
            <a:ext cx="2390398" cy="646331"/>
          </a:xfrm>
          <a:prstGeom prst="rect">
            <a:avLst/>
          </a:prstGeom>
          <a:noFill/>
        </p:spPr>
        <p:txBody>
          <a:bodyPr wrap="none" rtlCol="0">
            <a:spAutoFit/>
          </a:bodyPr>
          <a:lstStyle/>
          <a:p>
            <a:r>
              <a:rPr lang="en-US" dirty="0" err="1"/>
              <a:t>SingleCellExperiment</a:t>
            </a:r>
            <a:endParaRPr lang="en-US" dirty="0"/>
          </a:p>
          <a:p>
            <a:r>
              <a:rPr lang="en-US" dirty="0"/>
              <a:t>object:     </a:t>
            </a:r>
            <a:r>
              <a:rPr lang="en-US" dirty="0" err="1"/>
              <a:t>sce</a:t>
            </a:r>
            <a:endParaRPr lang="en-US" dirty="0"/>
          </a:p>
        </p:txBody>
      </p:sp>
      <p:sp>
        <p:nvSpPr>
          <p:cNvPr id="3" name="Rectangle 2">
            <a:extLst>
              <a:ext uri="{FF2B5EF4-FFF2-40B4-BE49-F238E27FC236}">
                <a16:creationId xmlns:a16="http://schemas.microsoft.com/office/drawing/2014/main" id="{0D531E25-B213-89A5-9622-AAF03B10966C}"/>
              </a:ext>
            </a:extLst>
          </p:cNvPr>
          <p:cNvSpPr>
            <a:spLocks noChangeArrowheads="1"/>
          </p:cNvSpPr>
          <p:nvPr/>
        </p:nvSpPr>
        <p:spPr bwMode="auto">
          <a:xfrm>
            <a:off x="9867592" y="1838837"/>
            <a:ext cx="407886" cy="3926322"/>
          </a:xfrm>
          <a:prstGeom prst="rect">
            <a:avLst/>
          </a:prstGeom>
          <a:gradFill rotWithShape="1">
            <a:gsLst>
              <a:gs pos="0">
                <a:srgbClr val="A3C4FF"/>
              </a:gs>
              <a:gs pos="35001">
                <a:srgbClr val="BFD5FF"/>
              </a:gs>
              <a:gs pos="100000">
                <a:srgbClr val="E5EEFF"/>
              </a:gs>
            </a:gsLst>
            <a:lin ang="16200000" scaled="1"/>
          </a:gradFill>
          <a:ln w="9525">
            <a:solidFill>
              <a:srgbClr val="4A7EBB"/>
            </a:solidFill>
            <a:miter lim="800000"/>
            <a:headEnd/>
            <a:tailEnd/>
          </a:ln>
          <a:effectLst>
            <a:outerShdw blurRad="63500" dist="20000" dir="5400000" rotWithShape="0">
              <a:srgbClr val="000000">
                <a:alpha val="37999"/>
              </a:srgbClr>
            </a:outerShdw>
          </a:effectLst>
        </p:spPr>
        <p:txBody>
          <a:bodyPr vert="vert270" anchor="ctr"/>
          <a:lstStyle/>
          <a:p>
            <a:pPr algn="ctr" eaLnBrk="1" hangingPunct="1">
              <a:defRPr/>
            </a:pPr>
            <a:r>
              <a:rPr lang="en-US" dirty="0">
                <a:solidFill>
                  <a:schemeClr val="dk1"/>
                </a:solidFill>
                <a:latin typeface="+mn-lt"/>
                <a:ea typeface="+mn-ea"/>
              </a:rPr>
              <a:t>TSNE</a:t>
            </a:r>
          </a:p>
        </p:txBody>
      </p:sp>
      <p:sp>
        <p:nvSpPr>
          <p:cNvPr id="8" name="Rectangle 7">
            <a:extLst>
              <a:ext uri="{FF2B5EF4-FFF2-40B4-BE49-F238E27FC236}">
                <a16:creationId xmlns:a16="http://schemas.microsoft.com/office/drawing/2014/main" id="{2443539A-0B07-218F-BD31-911A6B84F60C}"/>
              </a:ext>
            </a:extLst>
          </p:cNvPr>
          <p:cNvSpPr>
            <a:spLocks noChangeArrowheads="1"/>
          </p:cNvSpPr>
          <p:nvPr/>
        </p:nvSpPr>
        <p:spPr bwMode="auto">
          <a:xfrm>
            <a:off x="10410162" y="1849595"/>
            <a:ext cx="400110" cy="3926322"/>
          </a:xfrm>
          <a:prstGeom prst="rect">
            <a:avLst/>
          </a:prstGeom>
          <a:gradFill rotWithShape="1">
            <a:gsLst>
              <a:gs pos="0">
                <a:srgbClr val="A3C4FF"/>
              </a:gs>
              <a:gs pos="35001">
                <a:srgbClr val="BFD5FF"/>
              </a:gs>
              <a:gs pos="100000">
                <a:srgbClr val="E5EEFF"/>
              </a:gs>
            </a:gsLst>
            <a:lin ang="16200000" scaled="1"/>
          </a:gradFill>
          <a:ln w="9525">
            <a:solidFill>
              <a:srgbClr val="4A7EBB"/>
            </a:solidFill>
            <a:miter lim="800000"/>
            <a:headEnd/>
            <a:tailEnd/>
          </a:ln>
          <a:effectLst>
            <a:outerShdw blurRad="63500" dist="20000" dir="5400000" rotWithShape="0">
              <a:srgbClr val="000000">
                <a:alpha val="37999"/>
              </a:srgbClr>
            </a:outerShdw>
          </a:effectLst>
        </p:spPr>
        <p:txBody>
          <a:bodyPr vert="vert270" anchor="ctr"/>
          <a:lstStyle/>
          <a:p>
            <a:pPr algn="ctr" eaLnBrk="1" hangingPunct="1">
              <a:defRPr/>
            </a:pPr>
            <a:r>
              <a:rPr lang="en-US" dirty="0">
                <a:solidFill>
                  <a:schemeClr val="dk1"/>
                </a:solidFill>
                <a:latin typeface="+mn-lt"/>
                <a:ea typeface="+mn-ea"/>
              </a:rPr>
              <a:t>UMAP</a:t>
            </a:r>
          </a:p>
        </p:txBody>
      </p:sp>
      <p:sp>
        <p:nvSpPr>
          <p:cNvPr id="14" name="TextBox 13">
            <a:extLst>
              <a:ext uri="{FF2B5EF4-FFF2-40B4-BE49-F238E27FC236}">
                <a16:creationId xmlns:a16="http://schemas.microsoft.com/office/drawing/2014/main" id="{935EE7D5-3EA5-F966-D078-3D26F641EF28}"/>
              </a:ext>
            </a:extLst>
          </p:cNvPr>
          <p:cNvSpPr txBox="1"/>
          <p:nvPr/>
        </p:nvSpPr>
        <p:spPr>
          <a:xfrm>
            <a:off x="7007909" y="5813133"/>
            <a:ext cx="2707793" cy="369332"/>
          </a:xfrm>
          <a:prstGeom prst="rect">
            <a:avLst/>
          </a:prstGeom>
          <a:noFill/>
        </p:spPr>
        <p:txBody>
          <a:bodyPr wrap="none" rtlCol="0">
            <a:spAutoFit/>
          </a:bodyPr>
          <a:lstStyle/>
          <a:p>
            <a:r>
              <a:rPr lang="en-US" dirty="0" err="1"/>
              <a:t>reducedDim</a:t>
            </a:r>
            <a:r>
              <a:rPr lang="en-US" dirty="0"/>
              <a:t>(</a:t>
            </a:r>
            <a:r>
              <a:rPr lang="en-US" dirty="0" err="1"/>
              <a:t>sce</a:t>
            </a:r>
            <a:r>
              <a:rPr lang="en-US" dirty="0"/>
              <a:t>, "PCA")</a:t>
            </a:r>
          </a:p>
        </p:txBody>
      </p:sp>
      <p:sp>
        <p:nvSpPr>
          <p:cNvPr id="17" name="TextBox 16">
            <a:extLst>
              <a:ext uri="{FF2B5EF4-FFF2-40B4-BE49-F238E27FC236}">
                <a16:creationId xmlns:a16="http://schemas.microsoft.com/office/drawing/2014/main" id="{167D157B-F191-2351-841F-2A7BBBE490F0}"/>
              </a:ext>
            </a:extLst>
          </p:cNvPr>
          <p:cNvSpPr txBox="1"/>
          <p:nvPr/>
        </p:nvSpPr>
        <p:spPr>
          <a:xfrm>
            <a:off x="7817144" y="6101632"/>
            <a:ext cx="3139001" cy="369332"/>
          </a:xfrm>
          <a:prstGeom prst="rect">
            <a:avLst/>
          </a:prstGeom>
          <a:noFill/>
        </p:spPr>
        <p:txBody>
          <a:bodyPr wrap="none" rtlCol="0">
            <a:spAutoFit/>
          </a:bodyPr>
          <a:lstStyle/>
          <a:p>
            <a:r>
              <a:rPr lang="en-US" dirty="0" err="1"/>
              <a:t>reducedDim</a:t>
            </a:r>
            <a:r>
              <a:rPr lang="en-US" dirty="0"/>
              <a:t>(</a:t>
            </a:r>
            <a:r>
              <a:rPr lang="en-US" dirty="0" err="1"/>
              <a:t>sce</a:t>
            </a:r>
            <a:r>
              <a:rPr lang="en-US" dirty="0"/>
              <a:t>, ”TNSE"),…</a:t>
            </a:r>
          </a:p>
        </p:txBody>
      </p:sp>
      <p:sp>
        <p:nvSpPr>
          <p:cNvPr id="23" name="Rectangle 22">
            <a:extLst>
              <a:ext uri="{FF2B5EF4-FFF2-40B4-BE49-F238E27FC236}">
                <a16:creationId xmlns:a16="http://schemas.microsoft.com/office/drawing/2014/main" id="{10C66B4A-F698-74AE-2035-FDE172043F77}"/>
              </a:ext>
            </a:extLst>
          </p:cNvPr>
          <p:cNvSpPr>
            <a:spLocks noChangeArrowheads="1"/>
          </p:cNvSpPr>
          <p:nvPr/>
        </p:nvSpPr>
        <p:spPr bwMode="auto">
          <a:xfrm>
            <a:off x="6385025" y="1914400"/>
            <a:ext cx="400110" cy="3926322"/>
          </a:xfrm>
          <a:prstGeom prst="rect">
            <a:avLst/>
          </a:prstGeom>
          <a:gradFill rotWithShape="1">
            <a:gsLst>
              <a:gs pos="0">
                <a:srgbClr val="A3C4FF"/>
              </a:gs>
              <a:gs pos="35001">
                <a:srgbClr val="BFD5FF"/>
              </a:gs>
              <a:gs pos="100000">
                <a:srgbClr val="E5EEFF"/>
              </a:gs>
            </a:gsLst>
            <a:lin ang="16200000" scaled="1"/>
          </a:gradFill>
          <a:ln w="9525">
            <a:solidFill>
              <a:srgbClr val="4A7EBB"/>
            </a:solidFill>
            <a:miter lim="800000"/>
            <a:headEnd/>
            <a:tailEnd/>
          </a:ln>
          <a:effectLst>
            <a:outerShdw blurRad="63500" dist="20000" dir="5400000" rotWithShape="0">
              <a:srgbClr val="000000">
                <a:alpha val="37999"/>
              </a:srgbClr>
            </a:outerShdw>
          </a:effectLst>
        </p:spPr>
        <p:txBody>
          <a:bodyPr vert="vert270" anchor="ctr"/>
          <a:lstStyle/>
          <a:p>
            <a:pPr algn="ctr" eaLnBrk="1" hangingPunct="1">
              <a:defRPr/>
            </a:pPr>
            <a:r>
              <a:rPr lang="en-US" dirty="0">
                <a:solidFill>
                  <a:schemeClr val="dk1"/>
                </a:solidFill>
                <a:latin typeface="+mn-lt"/>
                <a:ea typeface="+mn-ea"/>
              </a:rPr>
              <a:t>label</a:t>
            </a:r>
          </a:p>
        </p:txBody>
      </p:sp>
      <p:sp>
        <p:nvSpPr>
          <p:cNvPr id="24" name="TextBox 13">
            <a:extLst>
              <a:ext uri="{FF2B5EF4-FFF2-40B4-BE49-F238E27FC236}">
                <a16:creationId xmlns:a16="http://schemas.microsoft.com/office/drawing/2014/main" id="{083C1A12-774D-CFED-0B8C-4E0C84B7465A}"/>
              </a:ext>
            </a:extLst>
          </p:cNvPr>
          <p:cNvSpPr txBox="1">
            <a:spLocks noChangeArrowheads="1"/>
          </p:cNvSpPr>
          <p:nvPr/>
        </p:nvSpPr>
        <p:spPr bwMode="auto">
          <a:xfrm rot="16200000">
            <a:off x="5853395" y="2028694"/>
            <a:ext cx="628698" cy="4001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000" dirty="0">
                <a:solidFill>
                  <a:srgbClr val="0070C0"/>
                </a:solidFill>
                <a:latin typeface="Arial" panose="020B0604020202020204" pitchFamily="34" charset="0"/>
              </a:rPr>
              <a:t>Cell</a:t>
            </a:r>
          </a:p>
        </p:txBody>
      </p:sp>
      <p:sp>
        <p:nvSpPr>
          <p:cNvPr id="25" name="TextBox 24">
            <a:extLst>
              <a:ext uri="{FF2B5EF4-FFF2-40B4-BE49-F238E27FC236}">
                <a16:creationId xmlns:a16="http://schemas.microsoft.com/office/drawing/2014/main" id="{7AC40AEF-F567-7D3B-E5C1-04169096C5DA}"/>
              </a:ext>
            </a:extLst>
          </p:cNvPr>
          <p:cNvSpPr txBox="1"/>
          <p:nvPr/>
        </p:nvSpPr>
        <p:spPr>
          <a:xfrm>
            <a:off x="5787165" y="5828384"/>
            <a:ext cx="1159292" cy="369332"/>
          </a:xfrm>
          <a:prstGeom prst="rect">
            <a:avLst/>
          </a:prstGeom>
          <a:noFill/>
        </p:spPr>
        <p:txBody>
          <a:bodyPr wrap="none" rtlCol="0">
            <a:spAutoFit/>
          </a:bodyPr>
          <a:lstStyle/>
          <a:p>
            <a:r>
              <a:rPr lang="en-US" dirty="0" err="1"/>
              <a:t>sce$label</a:t>
            </a:r>
            <a:endParaRPr lang="en-US" dirty="0"/>
          </a:p>
        </p:txBody>
      </p:sp>
    </p:spTree>
    <p:extLst>
      <p:ext uri="{BB962C8B-B14F-4D97-AF65-F5344CB8AC3E}">
        <p14:creationId xmlns:p14="http://schemas.microsoft.com/office/powerpoint/2010/main" val="2676021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 grpId="0"/>
      <p:bldP spid="14" grpId="0"/>
      <p:bldP spid="17" grpId="0"/>
      <p:bldP spid="2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0C7347C-B3BA-1ACF-AEB3-D1712FB9F07A}"/>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E1A324D5-FED9-45FF-F0CE-AF507F1352B6}"/>
              </a:ext>
            </a:extLst>
          </p:cNvPr>
          <p:cNvSpPr>
            <a:spLocks noGrp="1"/>
          </p:cNvSpPr>
          <p:nvPr>
            <p:ph type="sldNum" sz="quarter" idx="12"/>
          </p:nvPr>
        </p:nvSpPr>
        <p:spPr/>
        <p:txBody>
          <a:bodyPr/>
          <a:lstStyle/>
          <a:p>
            <a:pPr>
              <a:defRPr/>
            </a:pPr>
            <a:fld id="{09B82BB3-367D-3E49-A00D-E346D4E21EB9}" type="slidenum">
              <a:rPr lang="en-US" altLang="en-US" smtClean="0"/>
              <a:pPr>
                <a:defRPr/>
              </a:pPr>
              <a:t>13</a:t>
            </a:fld>
            <a:endParaRPr lang="en-US" altLang="en-US"/>
          </a:p>
        </p:txBody>
      </p:sp>
      <p:pic>
        <p:nvPicPr>
          <p:cNvPr id="9" name="Picture 8" descr="A screenshot of a computer&#10;&#10;AI-generated content may be incorrect.">
            <a:extLst>
              <a:ext uri="{FF2B5EF4-FFF2-40B4-BE49-F238E27FC236}">
                <a16:creationId xmlns:a16="http://schemas.microsoft.com/office/drawing/2014/main" id="{3B3C8361-B47F-AE35-09E0-B3855D75B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199" y="180067"/>
            <a:ext cx="9272369" cy="6541409"/>
          </a:xfrm>
          <a:prstGeom prst="rect">
            <a:avLst/>
          </a:prstGeom>
        </p:spPr>
      </p:pic>
    </p:spTree>
    <p:extLst>
      <p:ext uri="{BB962C8B-B14F-4D97-AF65-F5344CB8AC3E}">
        <p14:creationId xmlns:p14="http://schemas.microsoft.com/office/powerpoint/2010/main" val="1813228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73F0D8-E018-E4A3-15B5-FE906D51C48A}"/>
            </a:ext>
          </a:extLst>
        </p:cNvPr>
        <p:cNvGrpSpPr/>
        <p:nvPr/>
      </p:nvGrpSpPr>
      <p:grpSpPr>
        <a:xfrm>
          <a:off x="0" y="0"/>
          <a:ext cx="0" cy="0"/>
          <a:chOff x="0" y="0"/>
          <a:chExt cx="0" cy="0"/>
        </a:xfrm>
      </p:grpSpPr>
      <p:sp>
        <p:nvSpPr>
          <p:cNvPr id="16" name="Slide Background">
            <a:extLst>
              <a:ext uri="{FF2B5EF4-FFF2-40B4-BE49-F238E27FC236}">
                <a16:creationId xmlns:a16="http://schemas.microsoft.com/office/drawing/2014/main" id="{5F637E18-EF26-4327-9077-7FFC67B98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3" name="Rectangle 12">
            <a:extLst>
              <a:ext uri="{FF2B5EF4-FFF2-40B4-BE49-F238E27FC236}">
                <a16:creationId xmlns:a16="http://schemas.microsoft.com/office/drawing/2014/main" id="{3EED6667-6BE8-A2AB-422A-5A1D89727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03FC6EA9-B9D6-5229-CEE0-9525F20D2A08}"/>
              </a:ext>
            </a:extLst>
          </p:cNvPr>
          <p:cNvSpPr>
            <a:spLocks noGrp="1"/>
          </p:cNvSpPr>
          <p:nvPr>
            <p:ph type="title"/>
          </p:nvPr>
        </p:nvSpPr>
        <p:spPr>
          <a:xfrm>
            <a:off x="589558" y="244742"/>
            <a:ext cx="7015498" cy="1235225"/>
          </a:xfrm>
        </p:spPr>
        <p:txBody>
          <a:bodyPr vert="horz" lIns="91440" tIns="45720" rIns="91440" bIns="45720" rtlCol="0" anchor="ctr">
            <a:normAutofit/>
          </a:bodyPr>
          <a:lstStyle/>
          <a:p>
            <a:pPr algn="l" eaLnBrk="1" hangingPunct="1">
              <a:lnSpc>
                <a:spcPct val="90000"/>
              </a:lnSpc>
              <a:defRPr/>
            </a:pPr>
            <a:r>
              <a:rPr lang="en-US" altLang="en-US" sz="3600" b="1" kern="1200" dirty="0">
                <a:solidFill>
                  <a:schemeClr val="tx1"/>
                </a:solidFill>
                <a:latin typeface="+mj-lt"/>
                <a:ea typeface="+mj-ea"/>
                <a:cs typeface="+mj-cs"/>
              </a:rPr>
              <a:t>Sparse Matrix of class “</a:t>
            </a:r>
            <a:r>
              <a:rPr lang="en-US" altLang="en-US" sz="3600" b="1" kern="1200" dirty="0" err="1">
                <a:solidFill>
                  <a:schemeClr val="tx1"/>
                </a:solidFill>
                <a:latin typeface="+mj-lt"/>
                <a:ea typeface="+mj-ea"/>
                <a:cs typeface="+mj-cs"/>
              </a:rPr>
              <a:t>dgCMatrix</a:t>
            </a:r>
            <a:r>
              <a:rPr lang="en-US" altLang="en-US" sz="3600" b="1" kern="1200" dirty="0">
                <a:solidFill>
                  <a:schemeClr val="tx1"/>
                </a:solidFill>
                <a:latin typeface="+mj-lt"/>
                <a:ea typeface="+mj-ea"/>
                <a:cs typeface="+mj-cs"/>
              </a:rPr>
              <a:t>”</a:t>
            </a:r>
          </a:p>
        </p:txBody>
      </p:sp>
      <p:pic>
        <p:nvPicPr>
          <p:cNvPr id="11" name="Picture 10" descr="A screenshot of a computer&#10;&#10;AI-generated content may be incorrect.">
            <a:extLst>
              <a:ext uri="{FF2B5EF4-FFF2-40B4-BE49-F238E27FC236}">
                <a16:creationId xmlns:a16="http://schemas.microsoft.com/office/drawing/2014/main" id="{1BB2C4F1-F6A5-85F3-BAAF-80FF5D07D7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33" y="2375210"/>
            <a:ext cx="10461539" cy="3844615"/>
          </a:xfrm>
          <a:prstGeom prst="rect">
            <a:avLst/>
          </a:prstGeom>
          <a:effectLst/>
        </p:spPr>
      </p:pic>
    </p:spTree>
    <p:extLst>
      <p:ext uri="{BB962C8B-B14F-4D97-AF65-F5344CB8AC3E}">
        <p14:creationId xmlns:p14="http://schemas.microsoft.com/office/powerpoint/2010/main" val="566120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50BAB-FB63-15D4-D349-960B0FC4D826}"/>
              </a:ext>
            </a:extLst>
          </p:cNvPr>
          <p:cNvSpPr>
            <a:spLocks noGrp="1"/>
          </p:cNvSpPr>
          <p:nvPr>
            <p:ph type="title"/>
          </p:nvPr>
        </p:nvSpPr>
        <p:spPr/>
        <p:txBody>
          <a:bodyPr/>
          <a:lstStyle/>
          <a:p>
            <a:r>
              <a:rPr lang="en-US" dirty="0">
                <a:hlinkClick r:id="rId2"/>
              </a:rPr>
              <a:t>DGE Analysis Pipeline for Bulk RNA-seq</a:t>
            </a:r>
            <a:endParaRPr lang="en-US" dirty="0"/>
          </a:p>
        </p:txBody>
      </p:sp>
      <p:sp>
        <p:nvSpPr>
          <p:cNvPr id="5" name="Slide Number Placeholder 4">
            <a:extLst>
              <a:ext uri="{FF2B5EF4-FFF2-40B4-BE49-F238E27FC236}">
                <a16:creationId xmlns:a16="http://schemas.microsoft.com/office/drawing/2014/main" id="{68AE4EB8-08A2-66D9-A788-0691D4510E22}"/>
              </a:ext>
            </a:extLst>
          </p:cNvPr>
          <p:cNvSpPr>
            <a:spLocks noGrp="1"/>
          </p:cNvSpPr>
          <p:nvPr>
            <p:ph type="sldNum" sz="quarter" idx="12"/>
          </p:nvPr>
        </p:nvSpPr>
        <p:spPr/>
        <p:txBody>
          <a:bodyPr/>
          <a:lstStyle/>
          <a:p>
            <a:pPr>
              <a:defRPr/>
            </a:pPr>
            <a:fld id="{09B82BB3-367D-3E49-A00D-E346D4E21EB9}" type="slidenum">
              <a:rPr lang="en-US" altLang="en-US" smtClean="0"/>
              <a:pPr>
                <a:defRPr/>
              </a:pPr>
              <a:t>15</a:t>
            </a:fld>
            <a:endParaRPr lang="en-US" altLang="en-US"/>
          </a:p>
        </p:txBody>
      </p:sp>
      <p:pic>
        <p:nvPicPr>
          <p:cNvPr id="7" name="Picture 6" descr="A screenshot of a computer&#10;&#10;AI-generated content may be incorrect.">
            <a:extLst>
              <a:ext uri="{FF2B5EF4-FFF2-40B4-BE49-F238E27FC236}">
                <a16:creationId xmlns:a16="http://schemas.microsoft.com/office/drawing/2014/main" id="{E37B4DD3-7620-0F45-72C9-E590212B52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1353731"/>
            <a:ext cx="7772400" cy="5066528"/>
          </a:xfrm>
          <a:prstGeom prst="rect">
            <a:avLst/>
          </a:prstGeom>
        </p:spPr>
      </p:pic>
    </p:spTree>
    <p:extLst>
      <p:ext uri="{BB962C8B-B14F-4D97-AF65-F5344CB8AC3E}">
        <p14:creationId xmlns:p14="http://schemas.microsoft.com/office/powerpoint/2010/main" val="1677387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Figure" descr="figure.img"/>
          <p:cNvPicPr>
            <a:picLocks noChangeAspect="1"/>
          </p:cNvPicPr>
          <p:nvPr/>
        </p:nvPicPr>
        <p:blipFill>
          <a:blip r:embed="rId3" cstate="print"/>
          <a:stretch>
            <a:fillRect/>
          </a:stretch>
        </p:blipFill>
        <p:spPr>
          <a:xfrm>
            <a:off x="1524000" y="1017779"/>
            <a:ext cx="9144000" cy="4882896"/>
          </a:xfrm>
          <a:prstGeom prst="rect">
            <a:avLst/>
          </a:prstGeom>
        </p:spPr>
      </p:pic>
      <p:pic>
        <p:nvPicPr>
          <p:cNvPr id="5" name="F1000Research" descr="F1000Research.png"/>
          <p:cNvPicPr>
            <a:picLocks noChangeAspect="1"/>
          </p:cNvPicPr>
          <p:nvPr/>
        </p:nvPicPr>
        <p:blipFill>
          <a:blip r:embed="rId4" cstate="print"/>
          <a:stretch>
            <a:fillRect/>
          </a:stretch>
        </p:blipFill>
        <p:spPr>
          <a:xfrm>
            <a:off x="8691749" y="6347445"/>
            <a:ext cx="1519051" cy="167654"/>
          </a:xfrm>
          <a:prstGeom prst="rect">
            <a:avLst/>
          </a:prstGeom>
        </p:spPr>
      </p:pic>
      <p:sp>
        <p:nvSpPr>
          <p:cNvPr id="2" name="TextBox 3"/>
          <p:cNvSpPr txBox="1"/>
          <p:nvPr/>
        </p:nvSpPr>
        <p:spPr>
          <a:xfrm>
            <a:off x="1524000" y="0"/>
            <a:ext cx="9144000" cy="338554"/>
          </a:xfrm>
          <a:prstGeom prst="rect">
            <a:avLst/>
          </a:prstGeom>
          <a:noFill/>
        </p:spPr>
        <p:txBody>
          <a:bodyPr wrap="square" rtlCol="0">
            <a:spAutoFit/>
          </a:bodyPr>
          <a:lstStyle/>
          <a:p>
            <a:pPr algn="ctr"/>
            <a:r>
              <a:rPr sz="1600"/>
              <a:t>Figure 1. </a:t>
            </a:r>
            <a:endParaRPr/>
          </a:p>
        </p:txBody>
      </p:sp>
      <p:sp>
        <p:nvSpPr>
          <p:cNvPr id="3" name="TextBox 3"/>
          <p:cNvSpPr txBox="1"/>
          <p:nvPr/>
        </p:nvSpPr>
        <p:spPr>
          <a:xfrm>
            <a:off x="1981200" y="6179791"/>
            <a:ext cx="5144000" cy="553998"/>
          </a:xfrm>
          <a:prstGeom prst="rect">
            <a:avLst/>
          </a:prstGeom>
          <a:noFill/>
        </p:spPr>
        <p:txBody>
          <a:bodyPr wrap="square" rtlCol="0">
            <a:spAutoFit/>
          </a:bodyPr>
          <a:lstStyle/>
          <a:p>
            <a:r>
              <a:rPr sz="1000"/>
              <a:t>Law CW, Alhamdoosh M, Su S et al. RNA-seq analysis is easy as 1-2-3 with limma, Glimma and edgeR [version 3]. F1000Research 2018, 5:1408 (doi: 10.12688/f1000research.9005.3)</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Figure" descr="figure.img"/>
          <p:cNvPicPr>
            <a:picLocks noChangeAspect="1"/>
          </p:cNvPicPr>
          <p:nvPr/>
        </p:nvPicPr>
        <p:blipFill>
          <a:blip r:embed="rId3" cstate="print"/>
          <a:stretch>
            <a:fillRect/>
          </a:stretch>
        </p:blipFill>
        <p:spPr>
          <a:xfrm>
            <a:off x="1524000" y="990347"/>
            <a:ext cx="9144000" cy="4937760"/>
          </a:xfrm>
          <a:prstGeom prst="rect">
            <a:avLst/>
          </a:prstGeom>
        </p:spPr>
      </p:pic>
      <p:pic>
        <p:nvPicPr>
          <p:cNvPr id="5" name="F1000Research" descr="F1000Research.png"/>
          <p:cNvPicPr>
            <a:picLocks noChangeAspect="1"/>
          </p:cNvPicPr>
          <p:nvPr/>
        </p:nvPicPr>
        <p:blipFill>
          <a:blip r:embed="rId4" cstate="print"/>
          <a:stretch>
            <a:fillRect/>
          </a:stretch>
        </p:blipFill>
        <p:spPr>
          <a:xfrm>
            <a:off x="8691749" y="6347445"/>
            <a:ext cx="1519051" cy="167654"/>
          </a:xfrm>
          <a:prstGeom prst="rect">
            <a:avLst/>
          </a:prstGeom>
        </p:spPr>
      </p:pic>
      <p:sp>
        <p:nvSpPr>
          <p:cNvPr id="2" name="TextBox 3"/>
          <p:cNvSpPr txBox="1"/>
          <p:nvPr/>
        </p:nvSpPr>
        <p:spPr>
          <a:xfrm>
            <a:off x="1524000" y="0"/>
            <a:ext cx="9144000" cy="338554"/>
          </a:xfrm>
          <a:prstGeom prst="rect">
            <a:avLst/>
          </a:prstGeom>
          <a:noFill/>
        </p:spPr>
        <p:txBody>
          <a:bodyPr wrap="square" rtlCol="0">
            <a:spAutoFit/>
          </a:bodyPr>
          <a:lstStyle/>
          <a:p>
            <a:pPr algn="ctr"/>
            <a:r>
              <a:rPr sz="1600"/>
              <a:t>Figure 3. </a:t>
            </a:r>
            <a:endParaRPr/>
          </a:p>
        </p:txBody>
      </p:sp>
      <p:sp>
        <p:nvSpPr>
          <p:cNvPr id="3" name="TextBox 3"/>
          <p:cNvSpPr txBox="1"/>
          <p:nvPr/>
        </p:nvSpPr>
        <p:spPr>
          <a:xfrm>
            <a:off x="1981200" y="6179791"/>
            <a:ext cx="5144000" cy="553998"/>
          </a:xfrm>
          <a:prstGeom prst="rect">
            <a:avLst/>
          </a:prstGeom>
          <a:noFill/>
        </p:spPr>
        <p:txBody>
          <a:bodyPr wrap="square" rtlCol="0">
            <a:spAutoFit/>
          </a:bodyPr>
          <a:lstStyle/>
          <a:p>
            <a:r>
              <a:rPr sz="1000"/>
              <a:t>Law CW, Alhamdoosh M, Su S et al. RNA-seq analysis is easy as 1-2-3 with limma, Glimma and edgeR [version 3]. F1000Research 2018, 5:1408 (doi: 10.12688/f1000research.9005.3)</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Figure" descr="figure.img"/>
          <p:cNvPicPr>
            <a:picLocks noChangeAspect="1"/>
          </p:cNvPicPr>
          <p:nvPr/>
        </p:nvPicPr>
        <p:blipFill>
          <a:blip r:embed="rId3" cstate="print"/>
          <a:stretch>
            <a:fillRect/>
          </a:stretch>
        </p:blipFill>
        <p:spPr>
          <a:xfrm>
            <a:off x="1599201" y="738665"/>
            <a:ext cx="8993598" cy="5441127"/>
          </a:xfrm>
          <a:prstGeom prst="rect">
            <a:avLst/>
          </a:prstGeom>
        </p:spPr>
      </p:pic>
      <p:pic>
        <p:nvPicPr>
          <p:cNvPr id="5" name="F1000Research" descr="F1000Research.png"/>
          <p:cNvPicPr>
            <a:picLocks noChangeAspect="1"/>
          </p:cNvPicPr>
          <p:nvPr/>
        </p:nvPicPr>
        <p:blipFill>
          <a:blip r:embed="rId4" cstate="print"/>
          <a:stretch>
            <a:fillRect/>
          </a:stretch>
        </p:blipFill>
        <p:spPr>
          <a:xfrm>
            <a:off x="8691749" y="6347445"/>
            <a:ext cx="1519051" cy="167654"/>
          </a:xfrm>
          <a:prstGeom prst="rect">
            <a:avLst/>
          </a:prstGeom>
        </p:spPr>
      </p:pic>
      <p:sp>
        <p:nvSpPr>
          <p:cNvPr id="2" name="TextBox 3"/>
          <p:cNvSpPr txBox="1"/>
          <p:nvPr/>
        </p:nvSpPr>
        <p:spPr>
          <a:xfrm>
            <a:off x="1524000" y="0"/>
            <a:ext cx="9144000" cy="338554"/>
          </a:xfrm>
          <a:prstGeom prst="rect">
            <a:avLst/>
          </a:prstGeom>
          <a:noFill/>
        </p:spPr>
        <p:txBody>
          <a:bodyPr wrap="square" rtlCol="0">
            <a:spAutoFit/>
          </a:bodyPr>
          <a:lstStyle/>
          <a:p>
            <a:pPr algn="ctr"/>
            <a:r>
              <a:rPr sz="1600"/>
              <a:t>Figure 6. </a:t>
            </a:r>
            <a:endParaRPr/>
          </a:p>
        </p:txBody>
      </p:sp>
      <p:sp>
        <p:nvSpPr>
          <p:cNvPr id="3" name="TextBox 3"/>
          <p:cNvSpPr txBox="1"/>
          <p:nvPr/>
        </p:nvSpPr>
        <p:spPr>
          <a:xfrm>
            <a:off x="1981200" y="6179791"/>
            <a:ext cx="5144000" cy="553998"/>
          </a:xfrm>
          <a:prstGeom prst="rect">
            <a:avLst/>
          </a:prstGeom>
          <a:noFill/>
        </p:spPr>
        <p:txBody>
          <a:bodyPr wrap="square" rtlCol="0">
            <a:spAutoFit/>
          </a:bodyPr>
          <a:lstStyle/>
          <a:p>
            <a:r>
              <a:rPr sz="1000"/>
              <a:t>Law CW, Alhamdoosh M, Su S et al. RNA-seq analysis is easy as 1-2-3 with limma, Glimma and edgeR [version 3]. F1000Research 2018, 5:1408 (doi: 10.12688/f1000research.9005.3)</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Figure" descr="figure.img"/>
          <p:cNvPicPr>
            <a:picLocks noChangeAspect="1"/>
          </p:cNvPicPr>
          <p:nvPr/>
        </p:nvPicPr>
        <p:blipFill>
          <a:blip r:embed="rId3" cstate="print"/>
          <a:stretch>
            <a:fillRect/>
          </a:stretch>
        </p:blipFill>
        <p:spPr>
          <a:xfrm>
            <a:off x="4227481" y="738665"/>
            <a:ext cx="3737038" cy="5441127"/>
          </a:xfrm>
          <a:prstGeom prst="rect">
            <a:avLst/>
          </a:prstGeom>
        </p:spPr>
      </p:pic>
      <p:pic>
        <p:nvPicPr>
          <p:cNvPr id="5" name="F1000Research" descr="F1000Research.png"/>
          <p:cNvPicPr>
            <a:picLocks noChangeAspect="1"/>
          </p:cNvPicPr>
          <p:nvPr/>
        </p:nvPicPr>
        <p:blipFill>
          <a:blip r:embed="rId4" cstate="print"/>
          <a:stretch>
            <a:fillRect/>
          </a:stretch>
        </p:blipFill>
        <p:spPr>
          <a:xfrm>
            <a:off x="8691749" y="6347445"/>
            <a:ext cx="1519051" cy="167654"/>
          </a:xfrm>
          <a:prstGeom prst="rect">
            <a:avLst/>
          </a:prstGeom>
        </p:spPr>
      </p:pic>
      <p:sp>
        <p:nvSpPr>
          <p:cNvPr id="2" name="TextBox 3"/>
          <p:cNvSpPr txBox="1"/>
          <p:nvPr/>
        </p:nvSpPr>
        <p:spPr>
          <a:xfrm>
            <a:off x="1524000" y="0"/>
            <a:ext cx="9144000" cy="338554"/>
          </a:xfrm>
          <a:prstGeom prst="rect">
            <a:avLst/>
          </a:prstGeom>
          <a:noFill/>
        </p:spPr>
        <p:txBody>
          <a:bodyPr wrap="square" rtlCol="0">
            <a:spAutoFit/>
          </a:bodyPr>
          <a:lstStyle/>
          <a:p>
            <a:pPr algn="ctr"/>
            <a:r>
              <a:rPr sz="1600"/>
              <a:t>Figure 7. </a:t>
            </a:r>
            <a:endParaRPr/>
          </a:p>
        </p:txBody>
      </p:sp>
      <p:sp>
        <p:nvSpPr>
          <p:cNvPr id="3" name="TextBox 3"/>
          <p:cNvSpPr txBox="1"/>
          <p:nvPr/>
        </p:nvSpPr>
        <p:spPr>
          <a:xfrm>
            <a:off x="1981200" y="6179791"/>
            <a:ext cx="5144000" cy="553998"/>
          </a:xfrm>
          <a:prstGeom prst="rect">
            <a:avLst/>
          </a:prstGeom>
          <a:noFill/>
        </p:spPr>
        <p:txBody>
          <a:bodyPr wrap="square" rtlCol="0">
            <a:spAutoFit/>
          </a:bodyPr>
          <a:lstStyle/>
          <a:p>
            <a:r>
              <a:rPr sz="1000"/>
              <a:t>Law CW, Alhamdoosh M, Su S et al. RNA-seq analysis is easy as 1-2-3 with limma, Glimma and edgeR [version 3]. F1000Research 2018, 5:1408 (doi: 10.12688/f1000research.9005.3)</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CDBB083-4CAC-BBA0-E177-FCE9D3FC582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09B82BB3-367D-3E49-A00D-E346D4E21EB9}" type="slidenum">
              <a:rPr lang="en-US" altLang="en-US" smtClean="0">
                <a:solidFill>
                  <a:schemeClr val="tx1">
                    <a:tint val="75000"/>
                  </a:schemeClr>
                </a:solidFill>
                <a:latin typeface="+mn-lt"/>
                <a:ea typeface="+mn-ea"/>
              </a:rPr>
              <a:pPr>
                <a:spcAft>
                  <a:spcPts val="600"/>
                </a:spcAft>
                <a:defRPr/>
              </a:pPr>
              <a:t>20</a:t>
            </a:fld>
            <a:endParaRPr lang="en-US" altLang="en-US" dirty="0">
              <a:solidFill>
                <a:schemeClr val="tx1">
                  <a:tint val="75000"/>
                </a:schemeClr>
              </a:solidFill>
              <a:latin typeface="+mn-lt"/>
              <a:ea typeface="+mn-ea"/>
            </a:endParaRPr>
          </a:p>
        </p:txBody>
      </p:sp>
      <p:sp useBgFill="1">
        <p:nvSpPr>
          <p:cNvPr id="12" name="Rectangle 11">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380709D-D408-5528-1D46-0CA3CEBDA9F1}"/>
              </a:ext>
            </a:extLst>
          </p:cNvPr>
          <p:cNvSpPr>
            <a:spLocks noGrp="1"/>
          </p:cNvSpPr>
          <p:nvPr>
            <p:ph type="title"/>
          </p:nvPr>
        </p:nvSpPr>
        <p:spPr>
          <a:xfrm>
            <a:off x="643468" y="643467"/>
            <a:ext cx="4620584" cy="4567137"/>
          </a:xfrm>
        </p:spPr>
        <p:txBody>
          <a:bodyPr vert="horz" lIns="91440" tIns="45720" rIns="91440" bIns="45720" rtlCol="0" anchor="b">
            <a:normAutofit/>
          </a:bodyPr>
          <a:lstStyle/>
          <a:p>
            <a:pPr algn="l" eaLnBrk="1" hangingPunct="1">
              <a:lnSpc>
                <a:spcPct val="90000"/>
              </a:lnSpc>
            </a:pPr>
            <a:r>
              <a:rPr lang="en-US" kern="1200" dirty="0">
                <a:solidFill>
                  <a:schemeClr val="tx1"/>
                </a:solidFill>
                <a:latin typeface="+mj-lt"/>
                <a:ea typeface="+mj-ea"/>
                <a:cs typeface="+mj-cs"/>
                <a:hlinkClick r:id="rId3"/>
              </a:rPr>
              <a:t>Computational Analysis Pipeline for scRNAseq</a:t>
            </a:r>
            <a:endParaRPr lang="en-US" kern="1200" dirty="0">
              <a:solidFill>
                <a:schemeClr val="tx1"/>
              </a:solidFill>
              <a:latin typeface="+mj-lt"/>
              <a:ea typeface="+mj-ea"/>
              <a:cs typeface="+mj-cs"/>
            </a:endParaRPr>
          </a:p>
        </p:txBody>
      </p:sp>
      <p:pic>
        <p:nvPicPr>
          <p:cNvPr id="7" name="Picture 6" descr="A screenshot of a cell analysis report&#10;&#10;AI-generated content may be incorrect.">
            <a:extLst>
              <a:ext uri="{FF2B5EF4-FFF2-40B4-BE49-F238E27FC236}">
                <a16:creationId xmlns:a16="http://schemas.microsoft.com/office/drawing/2014/main" id="{C59526F0-4079-E87E-0BC5-39B9855ED9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48431" y="136525"/>
            <a:ext cx="7207864" cy="6710589"/>
          </a:xfrm>
          <a:prstGeom prst="rect">
            <a:avLst/>
          </a:prstGeom>
        </p:spPr>
      </p:pic>
      <p:sp>
        <p:nvSpPr>
          <p:cNvPr id="4" name="Footer Placeholder 3">
            <a:extLst>
              <a:ext uri="{FF2B5EF4-FFF2-40B4-BE49-F238E27FC236}">
                <a16:creationId xmlns:a16="http://schemas.microsoft.com/office/drawing/2014/main" id="{52CF7E5D-41D7-85F4-CE2C-9C9FFFB2BB4F}"/>
              </a:ext>
            </a:extLst>
          </p:cNvPr>
          <p:cNvSpPr>
            <a:spLocks noGrp="1"/>
          </p:cNvSpPr>
          <p:nvPr>
            <p:ph type="ftr" sz="quarter" idx="11"/>
          </p:nvPr>
        </p:nvSpPr>
        <p:spPr>
          <a:xfrm>
            <a:off x="5105400" y="6356350"/>
            <a:ext cx="3048000" cy="365125"/>
          </a:xfrm>
          <a:solidFill>
            <a:schemeClr val="bg1"/>
          </a:solidFill>
        </p:spPr>
        <p:txBody>
          <a:bodyPr vert="horz" lIns="91440" tIns="45720" rIns="91440" bIns="45720" rtlCol="0" anchor="ctr">
            <a:normAutofit/>
          </a:bodyPr>
          <a:lstStyle/>
          <a:p>
            <a:pPr>
              <a:defRPr/>
            </a:pPr>
            <a:endParaRPr lang="en-US" sz="1200" kern="1200">
              <a:solidFill>
                <a:schemeClr val="tx1">
                  <a:tint val="75000"/>
                </a:schemeClr>
              </a:solidFill>
              <a:latin typeface="+mn-lt"/>
              <a:ea typeface="+mn-ea"/>
              <a:cs typeface="+mn-cs"/>
            </a:endParaRPr>
          </a:p>
        </p:txBody>
      </p:sp>
    </p:spTree>
    <p:extLst>
      <p:ext uri="{BB962C8B-B14F-4D97-AF65-F5344CB8AC3E}">
        <p14:creationId xmlns:p14="http://schemas.microsoft.com/office/powerpoint/2010/main" val="1357586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5D60D-4A5A-8B15-BAA2-79243CD73782}"/>
              </a:ext>
            </a:extLst>
          </p:cNvPr>
          <p:cNvSpPr>
            <a:spLocks noGrp="1"/>
          </p:cNvSpPr>
          <p:nvPr>
            <p:ph type="title"/>
          </p:nvPr>
        </p:nvSpPr>
        <p:spPr/>
        <p:txBody>
          <a:bodyPr/>
          <a:lstStyle/>
          <a:p>
            <a:r>
              <a:rPr lang="en-US" b="1" dirty="0"/>
              <a:t>Lab code</a:t>
            </a:r>
          </a:p>
        </p:txBody>
      </p:sp>
      <p:sp>
        <p:nvSpPr>
          <p:cNvPr id="3" name="Content Placeholder 2">
            <a:extLst>
              <a:ext uri="{FF2B5EF4-FFF2-40B4-BE49-F238E27FC236}">
                <a16:creationId xmlns:a16="http://schemas.microsoft.com/office/drawing/2014/main" id="{8838B8D6-AB34-A542-070C-9C0CD2F00A48}"/>
              </a:ext>
            </a:extLst>
          </p:cNvPr>
          <p:cNvSpPr>
            <a:spLocks noGrp="1"/>
          </p:cNvSpPr>
          <p:nvPr>
            <p:ph idx="1"/>
          </p:nvPr>
        </p:nvSpPr>
        <p:spPr/>
        <p:txBody>
          <a:bodyPr/>
          <a:lstStyle/>
          <a:p>
            <a:pPr marL="0" indent="0">
              <a:buNone/>
            </a:pPr>
            <a:r>
              <a:rPr lang="en-US" dirty="0">
                <a:hlinkClick r:id="rId2"/>
              </a:rPr>
              <a:t>http://github.com/ksiegmund/bioc_fgds</a:t>
            </a:r>
            <a:endParaRPr lang="en-US" dirty="0"/>
          </a:p>
          <a:p>
            <a:pPr marL="0" indent="0">
              <a:buNone/>
            </a:pPr>
            <a:endParaRPr lang="en-US" dirty="0"/>
          </a:p>
          <a:p>
            <a:pPr marL="0" indent="0">
              <a:buNone/>
            </a:pPr>
            <a:r>
              <a:rPr lang="en-US" dirty="0"/>
              <a:t>Need to install:</a:t>
            </a:r>
          </a:p>
          <a:p>
            <a:pPr marL="0" indent="0">
              <a:buNone/>
            </a:pPr>
            <a:r>
              <a:rPr lang="en-US" dirty="0"/>
              <a:t>R</a:t>
            </a:r>
          </a:p>
          <a:p>
            <a:pPr marL="0" indent="0">
              <a:buNone/>
            </a:pPr>
            <a:r>
              <a:rPr lang="en-US" dirty="0" err="1"/>
              <a:t>Rstudio</a:t>
            </a:r>
            <a:r>
              <a:rPr lang="en-US" dirty="0"/>
              <a:t>:		https://</a:t>
            </a:r>
            <a:r>
              <a:rPr lang="en-US" dirty="0" err="1"/>
              <a:t>posit.co</a:t>
            </a:r>
            <a:r>
              <a:rPr lang="en-US" dirty="0"/>
              <a:t>/downloads/</a:t>
            </a:r>
          </a:p>
          <a:p>
            <a:pPr marL="0" indent="0">
              <a:buNone/>
            </a:pPr>
            <a:r>
              <a:rPr lang="en-US" dirty="0"/>
              <a:t>Bioconductor:   	https://</a:t>
            </a:r>
            <a:r>
              <a:rPr lang="en-US" dirty="0" err="1"/>
              <a:t>bioconductor.org</a:t>
            </a:r>
            <a:r>
              <a:rPr lang="en-US" dirty="0"/>
              <a:t>/install/</a:t>
            </a:r>
          </a:p>
          <a:p>
            <a:pPr marL="0" indent="0">
              <a:buNone/>
            </a:pPr>
            <a:endParaRPr lang="en-US" dirty="0"/>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92BD2812-7C4B-8BDE-0A77-F36294F02554}"/>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D40FC625-CD0F-936C-EEE6-CAE658D5B697}"/>
              </a:ext>
            </a:extLst>
          </p:cNvPr>
          <p:cNvSpPr>
            <a:spLocks noGrp="1"/>
          </p:cNvSpPr>
          <p:nvPr>
            <p:ph type="sldNum" sz="quarter" idx="12"/>
          </p:nvPr>
        </p:nvSpPr>
        <p:spPr/>
        <p:txBody>
          <a:bodyPr/>
          <a:lstStyle/>
          <a:p>
            <a:pPr>
              <a:defRPr/>
            </a:pPr>
            <a:fld id="{09B82BB3-367D-3E49-A00D-E346D4E21EB9}" type="slidenum">
              <a:rPr lang="en-US" altLang="en-US" smtClean="0"/>
              <a:pPr>
                <a:defRPr/>
              </a:pPr>
              <a:t>21</a:t>
            </a:fld>
            <a:endParaRPr lang="en-US" altLang="en-US"/>
          </a:p>
        </p:txBody>
      </p:sp>
    </p:spTree>
    <p:extLst>
      <p:ext uri="{BB962C8B-B14F-4D97-AF65-F5344CB8AC3E}">
        <p14:creationId xmlns:p14="http://schemas.microsoft.com/office/powerpoint/2010/main" val="22216540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C70F8-803C-4589-1ABB-CF73E34EE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EAA6D-5CFC-011E-C25A-B73B990B55C8}"/>
              </a:ext>
            </a:extLst>
          </p:cNvPr>
          <p:cNvSpPr>
            <a:spLocks noGrp="1"/>
          </p:cNvSpPr>
          <p:nvPr>
            <p:ph type="title"/>
          </p:nvPr>
        </p:nvSpPr>
        <p:spPr/>
        <p:txBody>
          <a:bodyPr/>
          <a:lstStyle/>
          <a:p>
            <a:r>
              <a:rPr lang="en-US" b="1" dirty="0"/>
              <a:t>Bonus material</a:t>
            </a:r>
          </a:p>
        </p:txBody>
      </p:sp>
      <p:sp>
        <p:nvSpPr>
          <p:cNvPr id="3" name="Content Placeholder 2">
            <a:extLst>
              <a:ext uri="{FF2B5EF4-FFF2-40B4-BE49-F238E27FC236}">
                <a16:creationId xmlns:a16="http://schemas.microsoft.com/office/drawing/2014/main" id="{ECF4AEB3-776F-C15E-6CB6-7DE23E27B3EE}"/>
              </a:ext>
            </a:extLst>
          </p:cNvPr>
          <p:cNvSpPr>
            <a:spLocks noGrp="1"/>
          </p:cNvSpPr>
          <p:nvPr>
            <p:ph idx="1"/>
          </p:nvPr>
        </p:nvSpPr>
        <p:spPr/>
        <p:txBody>
          <a:bodyPr/>
          <a:lstStyle/>
          <a:p>
            <a:r>
              <a:rPr lang="en-US" dirty="0"/>
              <a:t>Ask Gemini for help</a:t>
            </a:r>
          </a:p>
          <a:p>
            <a:r>
              <a:rPr lang="en-US" dirty="0"/>
              <a:t>Check graphic color scales for color-blind friendliness</a:t>
            </a:r>
          </a:p>
          <a:p>
            <a:r>
              <a:rPr lang="en-US" dirty="0"/>
              <a:t>Creating a single figure from multiple </a:t>
            </a:r>
            <a:r>
              <a:rPr lang="en-US" dirty="0" err="1"/>
              <a:t>ggplot</a:t>
            </a:r>
            <a:r>
              <a:rPr lang="en-US" dirty="0"/>
              <a:t> figures</a:t>
            </a:r>
          </a:p>
          <a:p>
            <a:endParaRPr lang="en-US" dirty="0"/>
          </a:p>
        </p:txBody>
      </p:sp>
      <p:sp>
        <p:nvSpPr>
          <p:cNvPr id="4" name="Footer Placeholder 3">
            <a:extLst>
              <a:ext uri="{FF2B5EF4-FFF2-40B4-BE49-F238E27FC236}">
                <a16:creationId xmlns:a16="http://schemas.microsoft.com/office/drawing/2014/main" id="{DFE7CBF2-A399-0C29-F58D-CF521E51CF7C}"/>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D212BCB9-73C8-053C-3878-1505446EA3D5}"/>
              </a:ext>
            </a:extLst>
          </p:cNvPr>
          <p:cNvSpPr>
            <a:spLocks noGrp="1"/>
          </p:cNvSpPr>
          <p:nvPr>
            <p:ph type="sldNum" sz="quarter" idx="12"/>
          </p:nvPr>
        </p:nvSpPr>
        <p:spPr/>
        <p:txBody>
          <a:bodyPr/>
          <a:lstStyle/>
          <a:p>
            <a:pPr>
              <a:defRPr/>
            </a:pPr>
            <a:fld id="{09B82BB3-367D-3E49-A00D-E346D4E21EB9}" type="slidenum">
              <a:rPr lang="en-US" altLang="en-US" smtClean="0"/>
              <a:pPr>
                <a:defRPr/>
              </a:pPr>
              <a:t>22</a:t>
            </a:fld>
            <a:endParaRPr lang="en-US" altLang="en-US"/>
          </a:p>
        </p:txBody>
      </p:sp>
    </p:spTree>
    <p:extLst>
      <p:ext uri="{BB962C8B-B14F-4D97-AF65-F5344CB8AC3E}">
        <p14:creationId xmlns:p14="http://schemas.microsoft.com/office/powerpoint/2010/main" val="1256613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E24AC-0F34-AAD0-5540-E497B6908DE6}"/>
              </a:ext>
            </a:extLst>
          </p:cNvPr>
          <p:cNvSpPr>
            <a:spLocks noGrp="1"/>
          </p:cNvSpPr>
          <p:nvPr>
            <p:ph type="title"/>
          </p:nvPr>
        </p:nvSpPr>
        <p:spPr/>
        <p:txBody>
          <a:bodyPr/>
          <a:lstStyle/>
          <a:p>
            <a:r>
              <a:rPr lang="en-US" b="1" dirty="0"/>
              <a:t>Statistics Lessons</a:t>
            </a:r>
          </a:p>
        </p:txBody>
      </p:sp>
      <p:sp>
        <p:nvSpPr>
          <p:cNvPr id="3" name="Content Placeholder 2">
            <a:extLst>
              <a:ext uri="{FF2B5EF4-FFF2-40B4-BE49-F238E27FC236}">
                <a16:creationId xmlns:a16="http://schemas.microsoft.com/office/drawing/2014/main" id="{BE9DF9D2-4B9B-6469-B415-A1A86136C735}"/>
              </a:ext>
            </a:extLst>
          </p:cNvPr>
          <p:cNvSpPr>
            <a:spLocks noGrp="1"/>
          </p:cNvSpPr>
          <p:nvPr>
            <p:ph idx="1"/>
          </p:nvPr>
        </p:nvSpPr>
        <p:spPr/>
        <p:txBody>
          <a:bodyPr/>
          <a:lstStyle/>
          <a:p>
            <a:r>
              <a:rPr lang="en-US" dirty="0" err="1"/>
              <a:t>edgeR</a:t>
            </a:r>
            <a:r>
              <a:rPr lang="en-US" dirty="0"/>
              <a:t> and DESeq2 (competitor for </a:t>
            </a:r>
            <a:r>
              <a:rPr lang="en-US" dirty="0" err="1"/>
              <a:t>edgeR</a:t>
            </a:r>
            <a:r>
              <a:rPr lang="en-US" dirty="0"/>
              <a:t>) have high false-positive rates in large samples</a:t>
            </a:r>
          </a:p>
          <a:p>
            <a:pPr marL="0" indent="0">
              <a:buNone/>
            </a:pPr>
            <a:endParaRPr lang="en-US" dirty="0"/>
          </a:p>
          <a:p>
            <a:r>
              <a:rPr lang="en-US" dirty="0"/>
              <a:t>Valid, and invalid filtering</a:t>
            </a:r>
          </a:p>
          <a:p>
            <a:pPr lvl="1"/>
            <a:r>
              <a:rPr lang="en-US" dirty="0"/>
              <a:t>Removing lowly expressed genes</a:t>
            </a:r>
          </a:p>
          <a:p>
            <a:pPr lvl="1"/>
            <a:r>
              <a:rPr lang="en-US" dirty="0"/>
              <a:t>Filtering results in volcano plots</a:t>
            </a:r>
          </a:p>
          <a:p>
            <a:r>
              <a:rPr lang="en-US" dirty="0"/>
              <a:t>Double-dipping:  clustering </a:t>
            </a:r>
            <a:r>
              <a:rPr lang="en-US" dirty="0" err="1"/>
              <a:t>sc</a:t>
            </a:r>
            <a:r>
              <a:rPr lang="en-US" dirty="0"/>
              <a:t> data then testing </a:t>
            </a:r>
            <a:r>
              <a:rPr lang="en-US" dirty="0" err="1"/>
              <a:t>dge</a:t>
            </a:r>
            <a:endParaRPr lang="en-US" dirty="0"/>
          </a:p>
          <a:p>
            <a:pPr marL="457200" lvl="1" indent="0">
              <a:buNone/>
            </a:pPr>
            <a:r>
              <a:rPr lang="en-US" dirty="0"/>
              <a:t>  PM579 Statistical Analysis of High-dimensional data    (Summer 2026)</a:t>
            </a:r>
          </a:p>
        </p:txBody>
      </p:sp>
      <p:sp>
        <p:nvSpPr>
          <p:cNvPr id="4" name="Footer Placeholder 3">
            <a:extLst>
              <a:ext uri="{FF2B5EF4-FFF2-40B4-BE49-F238E27FC236}">
                <a16:creationId xmlns:a16="http://schemas.microsoft.com/office/drawing/2014/main" id="{AD860AF4-E246-2EE7-B265-B7352FC03D13}"/>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BBA9A075-FFEC-280E-F112-AE30006E78C4}"/>
              </a:ext>
            </a:extLst>
          </p:cNvPr>
          <p:cNvSpPr>
            <a:spLocks noGrp="1"/>
          </p:cNvSpPr>
          <p:nvPr>
            <p:ph type="sldNum" sz="quarter" idx="12"/>
          </p:nvPr>
        </p:nvSpPr>
        <p:spPr/>
        <p:txBody>
          <a:bodyPr/>
          <a:lstStyle/>
          <a:p>
            <a:pPr>
              <a:defRPr/>
            </a:pPr>
            <a:fld id="{09B82BB3-367D-3E49-A00D-E346D4E21EB9}" type="slidenum">
              <a:rPr lang="en-US" altLang="en-US" smtClean="0"/>
              <a:pPr>
                <a:defRPr/>
              </a:pPr>
              <a:t>23</a:t>
            </a:fld>
            <a:endParaRPr lang="en-US" alt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39C6256-4BE0-0C1C-3E25-6A2C0A2776F6}"/>
                  </a:ext>
                </a:extLst>
              </p:cNvPr>
              <p:cNvSpPr txBox="1"/>
              <p:nvPr/>
            </p:nvSpPr>
            <p:spPr>
              <a:xfrm>
                <a:off x="6934200" y="2514600"/>
                <a:ext cx="3018271" cy="8371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𝑇</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𝑦</m:t>
                                  </m:r>
                                </m:e>
                              </m:acc>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b="0" i="1" smtClean="0">
                                  <a:latin typeface="Cambria Math" panose="02040503050406030204" pitchFamily="18" charset="0"/>
                                </a:rPr>
                                <m:t>2</m:t>
                              </m:r>
                            </m:sub>
                          </m:sSub>
                        </m:num>
                        <m:den>
                          <m:r>
                            <a:rPr lang="en-US" sz="2400" i="1">
                              <a:latin typeface="Cambria Math" panose="02040503050406030204" pitchFamily="18" charset="0"/>
                            </a:rPr>
                            <m:t>𝑠</m:t>
                          </m:r>
                          <m:rad>
                            <m:radPr>
                              <m:degHide m:val="on"/>
                              <m:ctrlPr>
                                <a:rPr lang="en-US" sz="2400" i="1" smtClean="0">
                                  <a:latin typeface="Cambria Math" panose="02040503050406030204" pitchFamily="18" charset="0"/>
                                </a:rPr>
                              </m:ctrlPr>
                            </m:radPr>
                            <m:deg/>
                            <m:e>
                              <m:f>
                                <m:fPr>
                                  <m:type m:val="lin"/>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1</m:t>
                                      </m:r>
                                    </m:sub>
                                  </m:sSub>
                                </m:den>
                              </m:f>
                              <m:r>
                                <a:rPr lang="en-US" sz="2400" b="0" i="1" smtClean="0">
                                  <a:latin typeface="Cambria Math" panose="02040503050406030204" pitchFamily="18" charset="0"/>
                                </a:rPr>
                                <m:t>+</m:t>
                              </m:r>
                              <m:f>
                                <m:fPr>
                                  <m:type m:val="lin"/>
                                  <m:ctrlPr>
                                    <a:rPr lang="en-US" sz="2400" i="1">
                                      <a:latin typeface="Cambria Math" panose="02040503050406030204" pitchFamily="18" charset="0"/>
                                    </a:rPr>
                                  </m:ctrlPr>
                                </m:fPr>
                                <m:num>
                                  <m:r>
                                    <a:rPr lang="en-US" sz="2400" i="1">
                                      <a:latin typeface="Cambria Math" panose="02040503050406030204" pitchFamily="18" charset="0"/>
                                    </a:rPr>
                                    <m:t>1</m:t>
                                  </m:r>
                                </m:num>
                                <m:den>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b="0" i="1" smtClean="0">
                                          <a:latin typeface="Cambria Math" panose="02040503050406030204" pitchFamily="18" charset="0"/>
                                        </a:rPr>
                                        <m:t>2</m:t>
                                      </m:r>
                                    </m:sub>
                                  </m:sSub>
                                </m:den>
                              </m:f>
                            </m:e>
                          </m:rad>
                        </m:den>
                      </m:f>
                    </m:oMath>
                  </m:oMathPara>
                </a14:m>
                <a:endParaRPr lang="en-US" dirty="0"/>
              </a:p>
            </p:txBody>
          </p:sp>
        </mc:Choice>
        <mc:Fallback xmlns="">
          <p:sp>
            <p:nvSpPr>
              <p:cNvPr id="6" name="TextBox 5">
                <a:extLst>
                  <a:ext uri="{FF2B5EF4-FFF2-40B4-BE49-F238E27FC236}">
                    <a16:creationId xmlns:a16="http://schemas.microsoft.com/office/drawing/2014/main" id="{839C6256-4BE0-0C1C-3E25-6A2C0A2776F6}"/>
                  </a:ext>
                </a:extLst>
              </p:cNvPr>
              <p:cNvSpPr txBox="1">
                <a:spLocks noRot="1" noChangeAspect="1" noMove="1" noResize="1" noEditPoints="1" noAdjustHandles="1" noChangeArrowheads="1" noChangeShapeType="1" noTextEdit="1"/>
              </p:cNvSpPr>
              <p:nvPr/>
            </p:nvSpPr>
            <p:spPr>
              <a:xfrm>
                <a:off x="6934200" y="2514600"/>
                <a:ext cx="3018271" cy="837152"/>
              </a:xfrm>
              <a:prstGeom prst="rect">
                <a:avLst/>
              </a:prstGeom>
              <a:blipFill>
                <a:blip r:embed="rId2"/>
                <a:stretch>
                  <a:fillRect t="-22727" b="-112121"/>
                </a:stretch>
              </a:blipFill>
            </p:spPr>
            <p:txBody>
              <a:bodyPr/>
              <a:lstStyle/>
              <a:p>
                <a:r>
                  <a:rPr lang="en-US">
                    <a:noFill/>
                  </a:rPr>
                  <a:t> </a:t>
                </a:r>
              </a:p>
            </p:txBody>
          </p:sp>
        </mc:Fallback>
      </mc:AlternateContent>
    </p:spTree>
    <p:extLst>
      <p:ext uri="{BB962C8B-B14F-4D97-AF65-F5344CB8AC3E}">
        <p14:creationId xmlns:p14="http://schemas.microsoft.com/office/powerpoint/2010/main" val="3590047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24067</TotalTime>
  <Words>1404</Words>
  <Application>Microsoft Macintosh PowerPoint</Application>
  <PresentationFormat>Widescreen</PresentationFormat>
  <Paragraphs>189</Paragraphs>
  <Slides>23</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ＭＳ Ｐゴシック</vt:lpstr>
      <vt:lpstr>Arial</vt:lpstr>
      <vt:lpstr>Calibri</vt:lpstr>
      <vt:lpstr>Cambria Math</vt:lpstr>
      <vt:lpstr>Office Theme</vt:lpstr>
      <vt:lpstr>Differential Gene Expression (DGE) in R</vt:lpstr>
      <vt:lpstr>Learning Objectives</vt:lpstr>
      <vt:lpstr>PowerPoint Presentation</vt:lpstr>
      <vt:lpstr>PowerPoint Presentation</vt:lpstr>
      <vt:lpstr>RStudio</vt:lpstr>
      <vt:lpstr>Using R Markdown</vt:lpstr>
      <vt:lpstr>Executing R Markdown</vt:lpstr>
      <vt:lpstr>‘Knit’ R Markdown</vt:lpstr>
      <vt:lpstr>Data Matrix</vt:lpstr>
      <vt:lpstr>Database Organization</vt:lpstr>
      <vt:lpstr>PowerPoint Presentation</vt:lpstr>
      <vt:lpstr>Single-Cell Sequence Data</vt:lpstr>
      <vt:lpstr>PowerPoint Presentation</vt:lpstr>
      <vt:lpstr>Sparse Matrix of class “dgCMatrix”</vt:lpstr>
      <vt:lpstr>DGE Analysis Pipeline for Bulk RNA-seq</vt:lpstr>
      <vt:lpstr>PowerPoint Presentation</vt:lpstr>
      <vt:lpstr>PowerPoint Presentation</vt:lpstr>
      <vt:lpstr>PowerPoint Presentation</vt:lpstr>
      <vt:lpstr>PowerPoint Presentation</vt:lpstr>
      <vt:lpstr>Computational Analysis Pipeline for scRNAseq</vt:lpstr>
      <vt:lpstr>Lab code</vt:lpstr>
      <vt:lpstr>Bonus material</vt:lpstr>
      <vt:lpstr>Statistics Lessons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Genomic Studies</dc:title>
  <dc:creator>Kim Siegmund</dc:creator>
  <cp:lastModifiedBy>Kimberly Siegmund</cp:lastModifiedBy>
  <cp:revision>559</cp:revision>
  <dcterms:created xsi:type="dcterms:W3CDTF">2018-05-10T04:41:46Z</dcterms:created>
  <dcterms:modified xsi:type="dcterms:W3CDTF">2026-02-26T20:53:04Z</dcterms:modified>
</cp:coreProperties>
</file>